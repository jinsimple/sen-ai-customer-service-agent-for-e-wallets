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035"/>
        </a:solidFill>
      </p:bgPr>
    </p:bg>
    <p:spTree>
      <p:nvGrpSpPr>
        <p:cNvPr id="1" name=""/>
        <p:cNvGrpSpPr/>
        <p:nvPr/>
      </p:nvGrpSpPr>
      <p:grpSpPr>
        <a:xfrm>
          <a:off x="0" y="0"/>
          <a:ext cx="0" cy="0"/>
          <a:chOff x="0" y="0"/>
          <a:chExt cx="0" cy="0"/>
        </a:xfrm>
      </p:grpSpPr>
      <p:sp>
        <p:nvSpPr>
          <p:cNvPr id="2" name="Text 0"/>
          <p:cNvSpPr/>
          <p:nvPr/>
        </p:nvSpPr>
        <p:spPr>
          <a:xfrm>
            <a:off x="822960" y="960120"/>
            <a:ext cx="6126480" cy="502920"/>
          </a:xfrm>
          <a:prstGeom prst="rect">
            <a:avLst/>
          </a:prstGeom>
          <a:noFill/>
          <a:ln/>
        </p:spPr>
        <p:txBody>
          <a:bodyPr wrap="square" lIns="0" tIns="0" rIns="0" bIns="0" rtlCol="0" anchor="ctr"/>
          <a:lstStyle/>
          <a:p>
            <a:pPr indent="0" marL="0">
              <a:buNone/>
            </a:pPr>
            <a:r>
              <a:rPr lang="en-US" sz="3100" b="1" spc="-50" kern="0" dirty="0">
                <a:solidFill>
                  <a:srgbClr val="F59E0B"/>
                </a:solidFill>
                <a:latin typeface="Calibri" pitchFamily="34" charset="0"/>
                <a:ea typeface="Calibri" pitchFamily="34" charset="-122"/>
                <a:cs typeface="Calibri" pitchFamily="34" charset="-120"/>
              </a:rPr>
              <a:t>Thị trường ví</a:t>
            </a:r>
            <a:endParaRPr lang="en-US" sz="3100" dirty="0"/>
          </a:p>
        </p:txBody>
      </p:sp>
      <p:sp>
        <p:nvSpPr>
          <p:cNvPr id="3" name="Text 1"/>
          <p:cNvSpPr/>
          <p:nvPr/>
        </p:nvSpPr>
        <p:spPr>
          <a:xfrm>
            <a:off x="713232" y="1645920"/>
            <a:ext cx="6126480" cy="1645920"/>
          </a:xfrm>
          <a:prstGeom prst="rect">
            <a:avLst/>
          </a:prstGeom>
          <a:noFill/>
          <a:ln/>
        </p:spPr>
        <p:txBody>
          <a:bodyPr wrap="square" lIns="0" tIns="0" rIns="0" bIns="0" rtlCol="0" anchor="ctr"/>
          <a:lstStyle/>
          <a:p>
            <a:pPr indent="0" marL="0">
              <a:buNone/>
            </a:pPr>
            <a:r>
              <a:rPr lang="en-US" sz="12000" b="1" spc="-400" kern="0" dirty="0">
                <a:solidFill>
                  <a:srgbClr val="FFFFFF"/>
                </a:solidFill>
                <a:latin typeface="Calibri" pitchFamily="34" charset="0"/>
                <a:ea typeface="Calibri" pitchFamily="34" charset="-122"/>
                <a:cs typeface="Calibri" pitchFamily="34" charset="-120"/>
              </a:rPr>
              <a:t>30,35</a:t>
            </a:r>
            <a:pPr indent="0" marL="0">
              <a:buNone/>
            </a:pPr>
            <a:r>
              <a:rPr lang="en-US" sz="5000" b="1" spc="-100" kern="0" dirty="0">
                <a:solidFill>
                  <a:srgbClr val="FFFFFF"/>
                </a:solidFill>
                <a:latin typeface="Calibri" pitchFamily="34" charset="0"/>
                <a:ea typeface="Calibri" pitchFamily="34" charset="-122"/>
                <a:cs typeface="Calibri" pitchFamily="34" charset="-120"/>
              </a:rPr>
              <a:t> triệu</a:t>
            </a:r>
            <a:endParaRPr lang="en-US" sz="12000" dirty="0"/>
          </a:p>
        </p:txBody>
      </p:sp>
      <p:sp>
        <p:nvSpPr>
          <p:cNvPr id="4" name="Text 2"/>
          <p:cNvSpPr/>
          <p:nvPr/>
        </p:nvSpPr>
        <p:spPr>
          <a:xfrm>
            <a:off x="822960" y="3520440"/>
            <a:ext cx="5852160" cy="914400"/>
          </a:xfrm>
          <a:prstGeom prst="rect">
            <a:avLst/>
          </a:prstGeom>
          <a:noFill/>
          <a:ln/>
        </p:spPr>
        <p:txBody>
          <a:bodyPr wrap="square" lIns="0" tIns="0" rIns="0" bIns="0" rtlCol="0" anchor="ctr"/>
          <a:lstStyle/>
          <a:p>
            <a:pPr indent="0" marL="0">
              <a:lnSpc>
                <a:spcPct val="125000"/>
              </a:lnSpc>
              <a:buNone/>
            </a:pPr>
            <a:r>
              <a:rPr lang="en-US" sz="1900" dirty="0">
                <a:solidFill>
                  <a:srgbClr val="C3B6E0"/>
                </a:solidFill>
                <a:latin typeface="Calibri" pitchFamily="34" charset="0"/>
                <a:ea typeface="Calibri" pitchFamily="34" charset="-122"/>
                <a:cs typeface="Calibri" pitchFamily="34" charset="-120"/>
              </a:rPr>
              <a:t>ví điện tử đang hoạt động,</a:t>
            </a:r>
            <a:endParaRPr lang="en-US" sz="1900" dirty="0"/>
          </a:p>
          <a:p>
            <a:pPr indent="0" marL="0">
              <a:lnSpc>
                <a:spcPct val="125000"/>
              </a:lnSpc>
              <a:buNone/>
            </a:pPr>
            <a:r>
              <a:rPr lang="en-US" sz="1900" dirty="0">
                <a:solidFill>
                  <a:srgbClr val="C3B6E0"/>
                </a:solidFill>
                <a:latin typeface="Calibri" pitchFamily="34" charset="0"/>
                <a:ea typeface="Calibri" pitchFamily="34" charset="-122"/>
                <a:cs typeface="Calibri" pitchFamily="34" charset="-120"/>
              </a:rPr>
              <a:t>do 49 tổ chức được cấp phép cung ứng</a:t>
            </a:r>
            <a:endParaRPr lang="en-US" sz="1900" dirty="0"/>
          </a:p>
        </p:txBody>
      </p:sp>
      <p:sp>
        <p:nvSpPr>
          <p:cNvPr id="5" name="Text 3"/>
          <p:cNvSpPr/>
          <p:nvPr/>
        </p:nvSpPr>
        <p:spPr>
          <a:xfrm>
            <a:off x="7406640" y="960120"/>
            <a:ext cx="3931920" cy="502920"/>
          </a:xfrm>
          <a:prstGeom prst="rect">
            <a:avLst/>
          </a:prstGeom>
          <a:noFill/>
          <a:ln/>
        </p:spPr>
        <p:txBody>
          <a:bodyPr wrap="square" lIns="0" tIns="0" rIns="0" bIns="0" rtlCol="0" anchor="ctr"/>
          <a:lstStyle/>
          <a:p>
            <a:pPr indent="0" marL="0">
              <a:buNone/>
            </a:pPr>
            <a:r>
              <a:rPr lang="en-US" sz="3100" b="1" spc="-50" kern="0" dirty="0">
                <a:solidFill>
                  <a:srgbClr val="A78BFA"/>
                </a:solidFill>
                <a:latin typeface="Calibri" pitchFamily="34" charset="0"/>
                <a:ea typeface="Calibri" pitchFamily="34" charset="-122"/>
                <a:cs typeface="Calibri" pitchFamily="34" charset="-120"/>
              </a:rPr>
              <a:t>Đội của bạn</a:t>
            </a:r>
            <a:endParaRPr lang="en-US" sz="3100" dirty="0"/>
          </a:p>
        </p:txBody>
      </p:sp>
      <p:sp>
        <p:nvSpPr>
          <p:cNvPr id="6" name="Text 4"/>
          <p:cNvSpPr/>
          <p:nvPr/>
        </p:nvSpPr>
        <p:spPr>
          <a:xfrm>
            <a:off x="7296912" y="1645920"/>
            <a:ext cx="3931920" cy="1645920"/>
          </a:xfrm>
          <a:prstGeom prst="rect">
            <a:avLst/>
          </a:prstGeom>
          <a:noFill/>
          <a:ln/>
        </p:spPr>
        <p:txBody>
          <a:bodyPr wrap="square" lIns="0" tIns="0" rIns="0" bIns="0" rtlCol="0" anchor="ctr"/>
          <a:lstStyle/>
          <a:p>
            <a:pPr indent="0" marL="0">
              <a:buNone/>
            </a:pPr>
            <a:r>
              <a:rPr lang="en-US" sz="12000" b="1" dirty="0">
                <a:solidFill>
                  <a:srgbClr val="F59E0B"/>
                </a:solidFill>
                <a:latin typeface="Calibri" pitchFamily="34" charset="0"/>
                <a:ea typeface="Calibri" pitchFamily="34" charset="-122"/>
                <a:cs typeface="Calibri" pitchFamily="34" charset="-120"/>
              </a:rPr>
              <a:t>?</a:t>
            </a:r>
            <a:pPr indent="0" marL="0">
              <a:buNone/>
            </a:pPr>
            <a:r>
              <a:rPr lang="en-US" sz="5000" b="1" spc="-100" kern="0" dirty="0">
                <a:solidFill>
                  <a:srgbClr val="FFFFFF"/>
                </a:solidFill>
                <a:latin typeface="Calibri" pitchFamily="34" charset="0"/>
                <a:ea typeface="Calibri" pitchFamily="34" charset="-122"/>
                <a:cs typeface="Calibri" pitchFamily="34" charset="-120"/>
              </a:rPr>
              <a:t> người</a:t>
            </a:r>
            <a:endParaRPr lang="en-US" sz="12000" dirty="0"/>
          </a:p>
        </p:txBody>
      </p:sp>
      <p:sp>
        <p:nvSpPr>
          <p:cNvPr id="7" name="Text 5"/>
          <p:cNvSpPr/>
          <p:nvPr/>
        </p:nvSpPr>
        <p:spPr>
          <a:xfrm>
            <a:off x="7406640" y="3520440"/>
            <a:ext cx="3840480" cy="914400"/>
          </a:xfrm>
          <a:prstGeom prst="rect">
            <a:avLst/>
          </a:prstGeom>
          <a:noFill/>
          <a:ln/>
        </p:spPr>
        <p:txBody>
          <a:bodyPr wrap="square" lIns="0" tIns="0" rIns="0" bIns="0" rtlCol="0" anchor="ctr"/>
          <a:lstStyle/>
          <a:p>
            <a:pPr indent="0" marL="0">
              <a:lnSpc>
                <a:spcPct val="125000"/>
              </a:lnSpc>
              <a:buNone/>
            </a:pPr>
            <a:r>
              <a:rPr lang="en-US" sz="1900" dirty="0">
                <a:solidFill>
                  <a:srgbClr val="C3B6E0"/>
                </a:solidFill>
                <a:latin typeface="Calibri" pitchFamily="34" charset="0"/>
                <a:ea typeface="Calibri" pitchFamily="34" charset="-122"/>
                <a:cs typeface="Calibri" pitchFamily="34" charset="-120"/>
              </a:rPr>
              <a:t>đang ngồi xử lý khiếu nại</a:t>
            </a:r>
            <a:endParaRPr lang="en-US" sz="1900" dirty="0"/>
          </a:p>
          <a:p>
            <a:pPr indent="0" marL="0">
              <a:lnSpc>
                <a:spcPct val="125000"/>
              </a:lnSpc>
              <a:buNone/>
            </a:pPr>
            <a:r>
              <a:rPr lang="en-US" sz="1900" dirty="0">
                <a:solidFill>
                  <a:srgbClr val="C3B6E0"/>
                </a:solidFill>
                <a:latin typeface="Calibri" pitchFamily="34" charset="0"/>
                <a:ea typeface="Calibri" pitchFamily="34" charset="-122"/>
                <a:cs typeface="Calibri" pitchFamily="34" charset="-120"/>
              </a:rPr>
              <a:t>cho lượng ví bạn đang phục vụ</a:t>
            </a:r>
            <a:endParaRPr lang="en-US" sz="1900" dirty="0"/>
          </a:p>
        </p:txBody>
      </p:sp>
      <p:sp>
        <p:nvSpPr>
          <p:cNvPr id="8" name="Shape 6"/>
          <p:cNvSpPr/>
          <p:nvPr/>
        </p:nvSpPr>
        <p:spPr>
          <a:xfrm>
            <a:off x="640080" y="4846320"/>
            <a:ext cx="10515600" cy="18288"/>
          </a:xfrm>
          <a:prstGeom prst="rect">
            <a:avLst/>
          </a:prstGeom>
          <a:solidFill>
            <a:srgbClr val="463369"/>
          </a:solidFill>
          <a:ln/>
        </p:spPr>
      </p:sp>
      <p:sp>
        <p:nvSpPr>
          <p:cNvPr id="9" name="Text 7"/>
          <p:cNvSpPr/>
          <p:nvPr/>
        </p:nvSpPr>
        <p:spPr>
          <a:xfrm>
            <a:off x="640080" y="5120640"/>
            <a:ext cx="10515600" cy="594360"/>
          </a:xfrm>
          <a:prstGeom prst="rect">
            <a:avLst/>
          </a:prstGeom>
          <a:noFill/>
          <a:ln/>
        </p:spPr>
        <p:txBody>
          <a:bodyPr wrap="square" lIns="0" tIns="0" rIns="0" bIns="0" rtlCol="0" anchor="ctr"/>
          <a:lstStyle/>
          <a:p>
            <a:pPr indent="0" marL="0">
              <a:buNone/>
            </a:pPr>
            <a:r>
              <a:rPr lang="en-US" sz="3100" b="1" spc="-70" kern="0" dirty="0">
                <a:solidFill>
                  <a:srgbClr val="FFFFFF"/>
                </a:solidFill>
                <a:latin typeface="Calibri" pitchFamily="34" charset="0"/>
                <a:ea typeface="Calibri" pitchFamily="34" charset="-122"/>
                <a:cs typeface="Calibri" pitchFamily="34" charset="-120"/>
              </a:rPr>
              <a:t>Số ví tăng mỗi năm. Số người trực thì không.</a:t>
            </a:r>
            <a:endParaRPr lang="en-US" sz="3100" dirty="0"/>
          </a:p>
        </p:txBody>
      </p:sp>
      <p:sp>
        <p:nvSpPr>
          <p:cNvPr id="10" name="Text 8"/>
          <p:cNvSpPr/>
          <p:nvPr/>
        </p:nvSpPr>
        <p:spPr>
          <a:xfrm>
            <a:off x="640080" y="5943600"/>
            <a:ext cx="6035040" cy="457200"/>
          </a:xfrm>
          <a:prstGeom prst="rect">
            <a:avLst/>
          </a:prstGeom>
          <a:noFill/>
          <a:ln/>
        </p:spPr>
        <p:txBody>
          <a:bodyPr wrap="square" lIns="0" tIns="0" rIns="0" bIns="0" rtlCol="0" anchor="ctr"/>
          <a:lstStyle/>
          <a:p>
            <a:pPr indent="0" marL="0">
              <a:lnSpc>
                <a:spcPct val="110000"/>
              </a:lnSpc>
              <a:buNone/>
            </a:pPr>
            <a:r>
              <a:rPr lang="en-US" sz="1150" i="1" dirty="0">
                <a:solidFill>
                  <a:srgbClr val="6B5C99"/>
                </a:solidFill>
                <a:latin typeface="Calibri" pitchFamily="34" charset="0"/>
                <a:ea typeface="Calibri" pitchFamily="34" charset="-122"/>
                <a:cs typeface="Calibri" pitchFamily="34" charset="-120"/>
              </a:rPr>
              <a:t>Ngân hàng Nhà nước · số liệu ví điện tử đến hết tháng 9/2025 · 30,35 triệu ví hoạt động trên gần 49,57 triệu ví đã kích hoạt</a:t>
            </a:r>
            <a:endParaRPr lang="en-US" sz="1150" dirty="0"/>
          </a:p>
        </p:txBody>
      </p:sp>
      <p:sp>
        <p:nvSpPr>
          <p:cNvPr id="11" name="Text 9"/>
          <p:cNvSpPr/>
          <p:nvPr/>
        </p:nvSpPr>
        <p:spPr>
          <a:xfrm>
            <a:off x="6949440" y="5815584"/>
            <a:ext cx="4389120" cy="292608"/>
          </a:xfrm>
          <a:prstGeom prst="rect">
            <a:avLst/>
          </a:prstGeom>
          <a:noFill/>
          <a:ln/>
        </p:spPr>
        <p:txBody>
          <a:bodyPr wrap="square" lIns="0" tIns="0" rIns="0" bIns="0" rtlCol="0" anchor="ctr"/>
          <a:lstStyle/>
          <a:p>
            <a:pPr algn="r" indent="0" marL="0">
              <a:buNone/>
            </a:pPr>
            <a:r>
              <a:rPr lang="en-US" sz="1300" b="1" dirty="0">
                <a:solidFill>
                  <a:srgbClr val="C3B6E0"/>
                </a:solidFill>
                <a:latin typeface="Calibri" pitchFamily="34" charset="0"/>
                <a:ea typeface="Calibri" pitchFamily="34" charset="-122"/>
                <a:cs typeface="Calibri" pitchFamily="34" charset="-120"/>
              </a:rPr>
              <a:t>Đào Ngọc Bích</a:t>
            </a:r>
            <a:pPr algn="r" indent="0" marL="0">
              <a:buNone/>
            </a:pPr>
            <a:r>
              <a:rPr lang="en-US" sz="1300" dirty="0">
                <a:solidFill>
                  <a:srgbClr val="6B5C99"/>
                </a:solidFill>
                <a:latin typeface="Calibri" pitchFamily="34" charset="0"/>
                <a:ea typeface="Calibri" pitchFamily="34" charset="-122"/>
                <a:cs typeface="Calibri" pitchFamily="34" charset="-120"/>
              </a:rPr>
              <a:t>  ·  2A202601745</a:t>
            </a:r>
            <a:endParaRPr lang="en-US" sz="1300" dirty="0"/>
          </a:p>
        </p:txBody>
      </p:sp>
      <p:sp>
        <p:nvSpPr>
          <p:cNvPr id="12" name="Text 10"/>
          <p:cNvSpPr/>
          <p:nvPr/>
        </p:nvSpPr>
        <p:spPr>
          <a:xfrm>
            <a:off x="6949440" y="6126480"/>
            <a:ext cx="4389120" cy="274320"/>
          </a:xfrm>
          <a:prstGeom prst="rect">
            <a:avLst/>
          </a:prstGeom>
          <a:noFill/>
          <a:ln/>
        </p:spPr>
        <p:txBody>
          <a:bodyPr wrap="square" lIns="0" tIns="0" rIns="0" bIns="0" rtlCol="0" anchor="ctr"/>
          <a:lstStyle/>
          <a:p>
            <a:pPr algn="r" indent="0" marL="0">
              <a:buNone/>
            </a:pPr>
            <a:r>
              <a:rPr lang="en-US" sz="1150" i="1" dirty="0">
                <a:solidFill>
                  <a:srgbClr val="6B5C99"/>
                </a:solidFill>
                <a:latin typeface="Calibri" pitchFamily="34" charset="0"/>
                <a:ea typeface="Calibri" pitchFamily="34" charset="-122"/>
                <a:cs typeface="Calibri" pitchFamily="34" charset="-120"/>
              </a:rPr>
              <a:t>Chương trình AI Thực Chiến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F"/>
        </a:solidFill>
      </p:bgPr>
    </p:bg>
    <p:spTree>
      <p:nvGrpSpPr>
        <p:cNvPr id="1" name=""/>
        <p:cNvGrpSpPr/>
        <p:nvPr/>
      </p:nvGrpSpPr>
      <p:grpSpPr>
        <a:xfrm>
          <a:off x="0" y="0"/>
          <a:ext cx="0" cy="0"/>
          <a:chOff x="0" y="0"/>
          <a:chExt cx="0" cy="0"/>
        </a:xfrm>
      </p:grpSpPr>
      <p:sp>
        <p:nvSpPr>
          <p:cNvPr id="2" name="Text 0"/>
          <p:cNvSpPr/>
          <p:nvPr/>
        </p:nvSpPr>
        <p:spPr>
          <a:xfrm>
            <a:off x="640080" y="438912"/>
            <a:ext cx="10881360" cy="566928"/>
          </a:xfrm>
          <a:prstGeom prst="rect">
            <a:avLst/>
          </a:prstGeom>
          <a:noFill/>
          <a:ln/>
        </p:spPr>
        <p:txBody>
          <a:bodyPr wrap="square" lIns="0" tIns="0" rIns="0" bIns="0" rtlCol="0" anchor="ctr"/>
          <a:lstStyle/>
          <a:p>
            <a:pPr indent="0" marL="0">
              <a:buNone/>
            </a:pPr>
            <a:r>
              <a:rPr lang="en-US" sz="3260" b="1" spc="-70" kern="0" dirty="0">
                <a:solidFill>
                  <a:srgbClr val="1A1035"/>
                </a:solidFill>
                <a:latin typeface="Calibri" pitchFamily="34" charset="0"/>
                <a:ea typeface="Calibri" pitchFamily="34" charset="-122"/>
                <a:cs typeface="Calibri" pitchFamily="34" charset="-120"/>
              </a:rPr>
              <a:t>Tiền đi đâu trong một ca khiếu nại</a:t>
            </a:r>
            <a:endParaRPr lang="en-US" sz="3260" dirty="0"/>
          </a:p>
        </p:txBody>
      </p:sp>
      <p:sp>
        <p:nvSpPr>
          <p:cNvPr id="3" name="Text 1"/>
          <p:cNvSpPr/>
          <p:nvPr/>
        </p:nvSpPr>
        <p:spPr>
          <a:xfrm>
            <a:off x="640080" y="1005840"/>
            <a:ext cx="10881360" cy="320040"/>
          </a:xfrm>
          <a:prstGeom prst="rect">
            <a:avLst/>
          </a:prstGeom>
          <a:noFill/>
          <a:ln/>
        </p:spPr>
        <p:txBody>
          <a:bodyPr wrap="square" lIns="0" tIns="0" rIns="0" bIns="0" rtlCol="0" anchor="ctr"/>
          <a:lstStyle/>
          <a:p>
            <a:pPr indent="0" marL="0">
              <a:buNone/>
            </a:pPr>
            <a:r>
              <a:rPr lang="en-US" sz="1500" dirty="0">
                <a:solidFill>
                  <a:srgbClr val="6B6280"/>
                </a:solidFill>
                <a:latin typeface="Calibri" pitchFamily="34" charset="0"/>
                <a:ea typeface="Calibri" pitchFamily="34" charset="-122"/>
                <a:cs typeface="Calibri" pitchFamily="34" charset="-120"/>
              </a:rPr>
              <a:t>Một ca đi qua ba chặng. Trợ lý Sen — trợ lý AI tôi xây — chạm được hai chặng đầu.</a:t>
            </a:r>
            <a:endParaRPr lang="en-US" sz="1500" dirty="0"/>
          </a:p>
        </p:txBody>
      </p:sp>
      <p:sp>
        <p:nvSpPr>
          <p:cNvPr id="4" name="Shape 2"/>
          <p:cNvSpPr/>
          <p:nvPr/>
        </p:nvSpPr>
        <p:spPr>
          <a:xfrm>
            <a:off x="640080" y="1463040"/>
            <a:ext cx="10881360" cy="1417320"/>
          </a:xfrm>
          <a:prstGeom prst="roundRect">
            <a:avLst>
              <a:gd name="adj" fmla="val 5161"/>
            </a:avLst>
          </a:prstGeom>
          <a:solidFill>
            <a:srgbClr val="FFFFFF"/>
          </a:solidFill>
          <a:ln w="12700">
            <a:solidFill>
              <a:srgbClr val="E4DDF5"/>
            </a:solidFill>
            <a:prstDash val="solid"/>
          </a:ln>
        </p:spPr>
      </p:sp>
      <p:sp>
        <p:nvSpPr>
          <p:cNvPr id="5" name="Text 3"/>
          <p:cNvSpPr/>
          <p:nvPr/>
        </p:nvSpPr>
        <p:spPr>
          <a:xfrm>
            <a:off x="960120" y="1600200"/>
            <a:ext cx="548640" cy="457200"/>
          </a:xfrm>
          <a:prstGeom prst="rect">
            <a:avLst/>
          </a:prstGeom>
          <a:noFill/>
          <a:ln/>
        </p:spPr>
        <p:txBody>
          <a:bodyPr wrap="square" lIns="0" tIns="0" rIns="0" bIns="0" rtlCol="0" anchor="ctr"/>
          <a:lstStyle/>
          <a:p>
            <a:pPr indent="0" marL="0">
              <a:buNone/>
            </a:pPr>
            <a:r>
              <a:rPr lang="en-US" sz="2470" b="1" dirty="0">
                <a:solidFill>
                  <a:srgbClr val="6D28D9"/>
                </a:solidFill>
                <a:latin typeface="Calibri" pitchFamily="34" charset="0"/>
                <a:ea typeface="Calibri" pitchFamily="34" charset="-122"/>
                <a:cs typeface="Calibri" pitchFamily="34" charset="-120"/>
              </a:rPr>
              <a:t>①</a:t>
            </a:r>
            <a:endParaRPr lang="en-US" sz="2470" dirty="0"/>
          </a:p>
        </p:txBody>
      </p:sp>
      <p:sp>
        <p:nvSpPr>
          <p:cNvPr id="6" name="Text 4"/>
          <p:cNvSpPr/>
          <p:nvPr/>
        </p:nvSpPr>
        <p:spPr>
          <a:xfrm>
            <a:off x="1554480" y="1600200"/>
            <a:ext cx="9601200" cy="365760"/>
          </a:xfrm>
          <a:prstGeom prst="rect">
            <a:avLst/>
          </a:prstGeom>
          <a:noFill/>
          <a:ln/>
        </p:spPr>
        <p:txBody>
          <a:bodyPr wrap="square" lIns="0" tIns="0" rIns="0" bIns="0" rtlCol="0" anchor="ctr"/>
          <a:lstStyle/>
          <a:p>
            <a:pPr indent="0" marL="0">
              <a:buNone/>
            </a:pPr>
            <a:r>
              <a:rPr lang="en-US" sz="1850" b="1" dirty="0">
                <a:solidFill>
                  <a:srgbClr val="1A1035"/>
                </a:solidFill>
                <a:latin typeface="Calibri" pitchFamily="34" charset="0"/>
                <a:ea typeface="Calibri" pitchFamily="34" charset="-122"/>
                <a:cs typeface="Calibri" pitchFamily="34" charset="-120"/>
              </a:rPr>
              <a:t>Khách nhắn tới</a:t>
            </a:r>
            <a:endParaRPr lang="en-US" sz="1850" dirty="0"/>
          </a:p>
        </p:txBody>
      </p:sp>
      <p:sp>
        <p:nvSpPr>
          <p:cNvPr id="7" name="Text 5"/>
          <p:cNvSpPr/>
          <p:nvPr/>
        </p:nvSpPr>
        <p:spPr>
          <a:xfrm>
            <a:off x="1554480" y="1965960"/>
            <a:ext cx="9601200" cy="548640"/>
          </a:xfrm>
          <a:prstGeom prst="rect">
            <a:avLst/>
          </a:prstGeom>
          <a:noFill/>
          <a:ln/>
        </p:spPr>
        <p:txBody>
          <a:bodyPr wrap="square" lIns="0" tIns="0" rIns="0" bIns="0" rtlCol="0" anchor="ctr"/>
          <a:lstStyle/>
          <a:p>
            <a:pPr indent="0" marL="0">
              <a:lnSpc>
                <a:spcPct val="115000"/>
              </a:lnSpc>
              <a:buNone/>
            </a:pPr>
            <a:r>
              <a:rPr lang="en-US" sz="1300" dirty="0">
                <a:solidFill>
                  <a:srgbClr val="6B6280"/>
                </a:solidFill>
                <a:latin typeface="Calibri" pitchFamily="34" charset="0"/>
                <a:ea typeface="Calibri" pitchFamily="34" charset="-122"/>
                <a:cs typeface="Calibri" pitchFamily="34" charset="-120"/>
              </a:rPr>
              <a:t>Nhiều ca chỉ cần một câu trả lời, hoặc chỉ cần ghi nhận rồi chuyển tiếp.</a:t>
            </a:r>
            <a:endParaRPr lang="en-US" sz="1300" dirty="0"/>
          </a:p>
          <a:p>
            <a:pPr indent="0" marL="0">
              <a:lnSpc>
                <a:spcPct val="115000"/>
              </a:lnSpc>
              <a:buNone/>
            </a:pPr>
            <a:r>
              <a:rPr lang="en-US" sz="1300" dirty="0">
                <a:solidFill>
                  <a:srgbClr val="6B6280"/>
                </a:solidFill>
                <a:latin typeface="Calibri" pitchFamily="34" charset="0"/>
                <a:ea typeface="Calibri" pitchFamily="34" charset="-122"/>
                <a:cs typeface="Calibri" pitchFamily="34" charset="-120"/>
              </a:rPr>
              <a:t>Sen xử lý xong ngay tại đây — ca đó không bao giờ chạm tới nhân viên.</a:t>
            </a:r>
            <a:endParaRPr lang="en-US" sz="1300" dirty="0"/>
          </a:p>
        </p:txBody>
      </p:sp>
      <p:sp>
        <p:nvSpPr>
          <p:cNvPr id="8" name="Text 6"/>
          <p:cNvSpPr/>
          <p:nvPr/>
        </p:nvSpPr>
        <p:spPr>
          <a:xfrm>
            <a:off x="1554480" y="2523744"/>
            <a:ext cx="9601200" cy="274320"/>
          </a:xfrm>
          <a:prstGeom prst="rect">
            <a:avLst/>
          </a:prstGeom>
          <a:noFill/>
          <a:ln/>
        </p:spPr>
        <p:txBody>
          <a:bodyPr wrap="square" lIns="0" tIns="0" rIns="0" bIns="0" rtlCol="0" anchor="ctr"/>
          <a:lstStyle/>
          <a:p>
            <a:pPr indent="0" marL="0">
              <a:buNone/>
            </a:pPr>
            <a:r>
              <a:rPr lang="en-US" sz="1250" b="1" dirty="0">
                <a:solidFill>
                  <a:srgbClr val="6D28D9"/>
                </a:solidFill>
                <a:latin typeface="Calibri" pitchFamily="34" charset="0"/>
                <a:ea typeface="Calibri" pitchFamily="34" charset="-122"/>
                <a:cs typeface="Calibri" pitchFamily="34" charset="-120"/>
              </a:rPr>
              <a:t>~250đ một cuộc trò chuyện   ·   12.500 – 21.000đ nếu để nhân viên trả lời</a:t>
            </a:r>
            <a:endParaRPr lang="en-US" sz="1250" dirty="0"/>
          </a:p>
        </p:txBody>
      </p:sp>
      <p:sp>
        <p:nvSpPr>
          <p:cNvPr id="9" name="Shape 7"/>
          <p:cNvSpPr/>
          <p:nvPr/>
        </p:nvSpPr>
        <p:spPr>
          <a:xfrm>
            <a:off x="640080" y="3035808"/>
            <a:ext cx="10881360" cy="1417320"/>
          </a:xfrm>
          <a:prstGeom prst="roundRect">
            <a:avLst>
              <a:gd name="adj" fmla="val 5161"/>
            </a:avLst>
          </a:prstGeom>
          <a:solidFill>
            <a:srgbClr val="FFFFFF"/>
          </a:solidFill>
          <a:ln w="12700">
            <a:solidFill>
              <a:srgbClr val="E4DDF5"/>
            </a:solidFill>
            <a:prstDash val="solid"/>
          </a:ln>
        </p:spPr>
      </p:sp>
      <p:sp>
        <p:nvSpPr>
          <p:cNvPr id="10" name="Text 8"/>
          <p:cNvSpPr/>
          <p:nvPr/>
        </p:nvSpPr>
        <p:spPr>
          <a:xfrm>
            <a:off x="960120" y="3172968"/>
            <a:ext cx="548640" cy="457200"/>
          </a:xfrm>
          <a:prstGeom prst="rect">
            <a:avLst/>
          </a:prstGeom>
          <a:noFill/>
          <a:ln/>
        </p:spPr>
        <p:txBody>
          <a:bodyPr wrap="square" lIns="0" tIns="0" rIns="0" bIns="0" rtlCol="0" anchor="ctr"/>
          <a:lstStyle/>
          <a:p>
            <a:pPr indent="0" marL="0">
              <a:buNone/>
            </a:pPr>
            <a:r>
              <a:rPr lang="en-US" sz="2470" b="1" dirty="0">
                <a:solidFill>
                  <a:srgbClr val="6D28D9"/>
                </a:solidFill>
                <a:latin typeface="Calibri" pitchFamily="34" charset="0"/>
                <a:ea typeface="Calibri" pitchFamily="34" charset="-122"/>
                <a:cs typeface="Calibri" pitchFamily="34" charset="-120"/>
              </a:rPr>
              <a:t>②</a:t>
            </a:r>
            <a:endParaRPr lang="en-US" sz="2470" dirty="0"/>
          </a:p>
        </p:txBody>
      </p:sp>
      <p:sp>
        <p:nvSpPr>
          <p:cNvPr id="11" name="Text 9"/>
          <p:cNvSpPr/>
          <p:nvPr/>
        </p:nvSpPr>
        <p:spPr>
          <a:xfrm>
            <a:off x="1554480" y="3172968"/>
            <a:ext cx="9601200" cy="365760"/>
          </a:xfrm>
          <a:prstGeom prst="rect">
            <a:avLst/>
          </a:prstGeom>
          <a:noFill/>
          <a:ln/>
        </p:spPr>
        <p:txBody>
          <a:bodyPr wrap="square" lIns="0" tIns="0" rIns="0" bIns="0" rtlCol="0" anchor="ctr"/>
          <a:lstStyle/>
          <a:p>
            <a:pPr indent="0" marL="0">
              <a:buNone/>
            </a:pPr>
            <a:r>
              <a:rPr lang="en-US" sz="1850" b="1" dirty="0">
                <a:solidFill>
                  <a:srgbClr val="1A1035"/>
                </a:solidFill>
                <a:latin typeface="Calibri" pitchFamily="34" charset="0"/>
                <a:ea typeface="Calibri" pitchFamily="34" charset="-122"/>
                <a:cs typeface="Calibri" pitchFamily="34" charset="-120"/>
              </a:rPr>
              <a:t>Ca cần xử lý thật</a:t>
            </a:r>
            <a:endParaRPr lang="en-US" sz="1850" dirty="0"/>
          </a:p>
        </p:txBody>
      </p:sp>
      <p:sp>
        <p:nvSpPr>
          <p:cNvPr id="12" name="Text 10"/>
          <p:cNvSpPr/>
          <p:nvPr/>
        </p:nvSpPr>
        <p:spPr>
          <a:xfrm>
            <a:off x="1554480" y="3538728"/>
            <a:ext cx="9601200" cy="548640"/>
          </a:xfrm>
          <a:prstGeom prst="rect">
            <a:avLst/>
          </a:prstGeom>
          <a:noFill/>
          <a:ln/>
        </p:spPr>
        <p:txBody>
          <a:bodyPr wrap="square" lIns="0" tIns="0" rIns="0" bIns="0" rtlCol="0" anchor="ctr"/>
          <a:lstStyle/>
          <a:p>
            <a:pPr indent="0" marL="0">
              <a:lnSpc>
                <a:spcPct val="115000"/>
              </a:lnSpc>
              <a:buNone/>
            </a:pPr>
            <a:r>
              <a:rPr lang="en-US" sz="1300" dirty="0">
                <a:solidFill>
                  <a:srgbClr val="6B6280"/>
                </a:solidFill>
                <a:latin typeface="Calibri" pitchFamily="34" charset="0"/>
                <a:ea typeface="Calibri" pitchFamily="34" charset="-122"/>
                <a:cs typeface="Calibri" pitchFamily="34" charset="-120"/>
              </a:rPr>
              <a:t>Sen đọc hiểu hội thoại rồi tự điền vào hồ sơ những thứ một cái form không tự điền nổi:</a:t>
            </a:r>
            <a:endParaRPr lang="en-US" sz="1300" dirty="0"/>
          </a:p>
          <a:p>
            <a:pPr indent="0" marL="0">
              <a:lnSpc>
                <a:spcPct val="115000"/>
              </a:lnSpc>
              <a:buNone/>
            </a:pPr>
            <a:r>
              <a:rPr lang="en-US" sz="1300" dirty="0">
                <a:solidFill>
                  <a:srgbClr val="6B6280"/>
                </a:solidFill>
                <a:latin typeface="Calibri" pitchFamily="34" charset="0"/>
                <a:ea typeface="Calibri" pitchFamily="34" charset="-122"/>
                <a:cs typeface="Calibri" pitchFamily="34" charset="-120"/>
              </a:rPr>
              <a:t>đúng loại khiếu nại, đúng phạm vi giao dịch, tóm tắt sự việc, mức ưu tiên.</a:t>
            </a:r>
            <a:endParaRPr lang="en-US" sz="1300" dirty="0"/>
          </a:p>
          <a:p>
            <a:pPr indent="0" marL="0">
              <a:lnSpc>
                <a:spcPct val="115000"/>
              </a:lnSpc>
              <a:buNone/>
            </a:pPr>
            <a:r>
              <a:rPr lang="en-US" sz="1300" dirty="0">
                <a:solidFill>
                  <a:srgbClr val="6B6280"/>
                </a:solidFill>
                <a:latin typeface="Calibri" pitchFamily="34" charset="0"/>
                <a:ea typeface="Calibri" pitchFamily="34" charset="-122"/>
                <a:cs typeface="Calibri" pitchFamily="34" charset="-120"/>
              </a:rPr>
              <a:t>Nhân viên xem và xác nhận — không phải đi lục từng hệ thống rồi gõ lại.</a:t>
            </a:r>
            <a:endParaRPr lang="en-US" sz="1300" dirty="0"/>
          </a:p>
        </p:txBody>
      </p:sp>
      <p:sp>
        <p:nvSpPr>
          <p:cNvPr id="13" name="Text 11"/>
          <p:cNvSpPr/>
          <p:nvPr/>
        </p:nvSpPr>
        <p:spPr>
          <a:xfrm>
            <a:off x="1554480" y="4096512"/>
            <a:ext cx="9601200" cy="274320"/>
          </a:xfrm>
          <a:prstGeom prst="rect">
            <a:avLst/>
          </a:prstGeom>
          <a:noFill/>
          <a:ln/>
        </p:spPr>
        <p:txBody>
          <a:bodyPr wrap="square" lIns="0" tIns="0" rIns="0" bIns="0" rtlCol="0" anchor="ctr"/>
          <a:lstStyle/>
          <a:p>
            <a:pPr indent="0" marL="0">
              <a:buNone/>
            </a:pPr>
            <a:r>
              <a:rPr lang="en-US" sz="1250" b="1" dirty="0">
                <a:solidFill>
                  <a:srgbClr val="6D28D9"/>
                </a:solidFill>
                <a:latin typeface="Calibri" pitchFamily="34" charset="0"/>
                <a:ea typeface="Calibri" pitchFamily="34" charset="-122"/>
                <a:cs typeface="Calibri" pitchFamily="34" charset="-120"/>
              </a:rPr>
              <a:t>31.000 – 52.000đ là chi phí nhân sự cho một ca làm thủ công</a:t>
            </a:r>
            <a:endParaRPr lang="en-US" sz="1250" dirty="0"/>
          </a:p>
        </p:txBody>
      </p:sp>
      <p:sp>
        <p:nvSpPr>
          <p:cNvPr id="14" name="Shape 12"/>
          <p:cNvSpPr/>
          <p:nvPr/>
        </p:nvSpPr>
        <p:spPr>
          <a:xfrm>
            <a:off x="640080" y="4617720"/>
            <a:ext cx="10881360" cy="960120"/>
          </a:xfrm>
          <a:prstGeom prst="roundRect">
            <a:avLst>
              <a:gd name="adj" fmla="val 7619"/>
            </a:avLst>
          </a:prstGeom>
          <a:solidFill>
            <a:srgbClr val="1A1035"/>
          </a:solidFill>
          <a:ln/>
        </p:spPr>
      </p:sp>
      <p:sp>
        <p:nvSpPr>
          <p:cNvPr id="15" name="Text 13"/>
          <p:cNvSpPr/>
          <p:nvPr/>
        </p:nvSpPr>
        <p:spPr>
          <a:xfrm>
            <a:off x="960120" y="4617720"/>
            <a:ext cx="548640" cy="960120"/>
          </a:xfrm>
          <a:prstGeom prst="rect">
            <a:avLst/>
          </a:prstGeom>
          <a:noFill/>
          <a:ln/>
        </p:spPr>
        <p:txBody>
          <a:bodyPr wrap="square" lIns="0" tIns="0" rIns="0" bIns="0" rtlCol="0" anchor="ctr"/>
          <a:lstStyle/>
          <a:p>
            <a:pPr indent="0" marL="0">
              <a:buNone/>
            </a:pPr>
            <a:r>
              <a:rPr lang="en-US" sz="2470" b="1" dirty="0">
                <a:solidFill>
                  <a:srgbClr val="D97706"/>
                </a:solidFill>
                <a:latin typeface="Calibri" pitchFamily="34" charset="0"/>
                <a:ea typeface="Calibri" pitchFamily="34" charset="-122"/>
                <a:cs typeface="Calibri" pitchFamily="34" charset="-120"/>
              </a:rPr>
              <a:t>③</a:t>
            </a:r>
            <a:endParaRPr lang="en-US" sz="2470" dirty="0"/>
          </a:p>
        </p:txBody>
      </p:sp>
      <p:sp>
        <p:nvSpPr>
          <p:cNvPr id="16" name="Text 14"/>
          <p:cNvSpPr/>
          <p:nvPr/>
        </p:nvSpPr>
        <p:spPr>
          <a:xfrm>
            <a:off x="1554480" y="4754880"/>
            <a:ext cx="9601200" cy="365760"/>
          </a:xfrm>
          <a:prstGeom prst="rect">
            <a:avLst/>
          </a:prstGeom>
          <a:noFill/>
          <a:ln/>
        </p:spPr>
        <p:txBody>
          <a:bodyPr wrap="square" lIns="0" tIns="0" rIns="0" bIns="0" rtlCol="0" anchor="ctr"/>
          <a:lstStyle/>
          <a:p>
            <a:pPr indent="0" marL="0">
              <a:buNone/>
            </a:pPr>
            <a:r>
              <a:rPr lang="en-US" sz="1960" b="1" dirty="0">
                <a:solidFill>
                  <a:srgbClr val="FFFFFF"/>
                </a:solidFill>
                <a:latin typeface="Calibri" pitchFamily="34" charset="0"/>
                <a:ea typeface="Calibri" pitchFamily="34" charset="-122"/>
                <a:cs typeface="Calibri" pitchFamily="34" charset="-120"/>
              </a:rPr>
              <a:t>Sếp duyệt chi tiền — Sen không hỗ trợ gì ở đây. Có chủ đích.</a:t>
            </a:r>
            <a:endParaRPr lang="en-US" sz="1960" dirty="0"/>
          </a:p>
        </p:txBody>
      </p:sp>
      <p:sp>
        <p:nvSpPr>
          <p:cNvPr id="17" name="Text 15"/>
          <p:cNvSpPr/>
          <p:nvPr/>
        </p:nvSpPr>
        <p:spPr>
          <a:xfrm>
            <a:off x="1554480" y="5138928"/>
            <a:ext cx="9601200" cy="320040"/>
          </a:xfrm>
          <a:prstGeom prst="rect">
            <a:avLst/>
          </a:prstGeom>
          <a:noFill/>
          <a:ln/>
        </p:spPr>
        <p:txBody>
          <a:bodyPr wrap="square" lIns="0" tIns="0" rIns="0" bIns="0" rtlCol="0" anchor="ctr"/>
          <a:lstStyle/>
          <a:p>
            <a:pPr indent="0" marL="0">
              <a:buNone/>
            </a:pPr>
            <a:r>
              <a:rPr lang="en-US" sz="1300" dirty="0">
                <a:solidFill>
                  <a:srgbClr val="C3B6E0"/>
                </a:solidFill>
                <a:latin typeface="Calibri" pitchFamily="34" charset="0"/>
                <a:ea typeface="Calibri" pitchFamily="34" charset="-122"/>
                <a:cs typeface="Calibri" pitchFamily="34" charset="-120"/>
              </a:rPr>
              <a:t>Đây là nghiệp vụ của con người, và là ranh giới luật không cho vượt.</a:t>
            </a:r>
            <a:endParaRPr lang="en-US" sz="1300" dirty="0"/>
          </a:p>
        </p:txBody>
      </p:sp>
      <p:sp>
        <p:nvSpPr>
          <p:cNvPr id="18" name="Text 16"/>
          <p:cNvSpPr/>
          <p:nvPr/>
        </p:nvSpPr>
        <p:spPr>
          <a:xfrm>
            <a:off x="640080" y="5715000"/>
            <a:ext cx="10881360" cy="365760"/>
          </a:xfrm>
          <a:prstGeom prst="rect">
            <a:avLst/>
          </a:prstGeom>
          <a:noFill/>
          <a:ln/>
        </p:spPr>
        <p:txBody>
          <a:bodyPr wrap="square" lIns="0" tIns="0" rIns="0" bIns="0" rtlCol="0" anchor="ctr"/>
          <a:lstStyle/>
          <a:p>
            <a:pPr indent="0" marL="0">
              <a:buNone/>
            </a:pPr>
            <a:r>
              <a:rPr lang="en-US" sz="1750" b="1" dirty="0">
                <a:solidFill>
                  <a:srgbClr val="1A1035"/>
                </a:solidFill>
                <a:latin typeface="Calibri" pitchFamily="34" charset="0"/>
                <a:ea typeface="Calibri" pitchFamily="34" charset="-122"/>
                <a:cs typeface="Calibri" pitchFamily="34" charset="-120"/>
              </a:rPr>
              <a:t>Không cắt được người đang có. Nhưng không phải tuyển thêm khi lượng khách tăng gấp rưỡi.</a:t>
            </a:r>
            <a:endParaRPr lang="en-US" sz="1750" dirty="0"/>
          </a:p>
        </p:txBody>
      </p:sp>
      <p:sp>
        <p:nvSpPr>
          <p:cNvPr id="19" name="Text 17"/>
          <p:cNvSpPr/>
          <p:nvPr/>
        </p:nvSpPr>
        <p:spPr>
          <a:xfrm>
            <a:off x="640080" y="6144768"/>
            <a:ext cx="10881360" cy="292608"/>
          </a:xfrm>
          <a:prstGeom prst="rect">
            <a:avLst/>
          </a:prstGeom>
          <a:noFill/>
          <a:ln/>
        </p:spPr>
        <p:txBody>
          <a:bodyPr wrap="square" lIns="0" tIns="0" rIns="0" bIns="0" rtlCol="0" anchor="t"/>
          <a:lstStyle/>
          <a:p>
            <a:pPr indent="0" marL="0">
              <a:buNone/>
            </a:pPr>
            <a:r>
              <a:rPr lang="en-US" sz="1000" i="1" dirty="0">
                <a:solidFill>
                  <a:srgbClr val="6B6280"/>
                </a:solidFill>
                <a:latin typeface="Calibri" pitchFamily="34" charset="0"/>
                <a:ea typeface="Calibri" pitchFamily="34" charset="-122"/>
                <a:cs typeface="Calibri" pitchFamily="34" charset="-120"/>
              </a:rPr>
              <a:t>Chi phí AI: đo thật · Chi phí nhân sự: dựng từ lương trung bình 10,7tr/tháng cộng phụ tải, chia cho giờ làm việc hiệu quả</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035"/>
        </a:solidFill>
      </p:bgPr>
    </p:bg>
    <p:spTree>
      <p:nvGrpSpPr>
        <p:cNvPr id="1" name=""/>
        <p:cNvGrpSpPr/>
        <p:nvPr/>
      </p:nvGrpSpPr>
      <p:grpSpPr>
        <a:xfrm>
          <a:off x="0" y="0"/>
          <a:ext cx="0" cy="0"/>
          <a:chOff x="0" y="0"/>
          <a:chExt cx="0" cy="0"/>
        </a:xfrm>
      </p:grpSpPr>
      <p:sp>
        <p:nvSpPr>
          <p:cNvPr id="2" name="Text 0"/>
          <p:cNvSpPr/>
          <p:nvPr/>
        </p:nvSpPr>
        <p:spPr>
          <a:xfrm>
            <a:off x="640080" y="438912"/>
            <a:ext cx="10881360" cy="566928"/>
          </a:xfrm>
          <a:prstGeom prst="rect">
            <a:avLst/>
          </a:prstGeom>
          <a:noFill/>
          <a:ln/>
        </p:spPr>
        <p:txBody>
          <a:bodyPr wrap="square" lIns="0" tIns="0" rIns="0" bIns="0" rtlCol="0" anchor="ctr"/>
          <a:lstStyle/>
          <a:p>
            <a:pPr indent="0" marL="0">
              <a:buNone/>
            </a:pPr>
            <a:r>
              <a:rPr lang="en-US" sz="3260" b="1" spc="-70" kern="0" dirty="0">
                <a:solidFill>
                  <a:srgbClr val="FFFFFF"/>
                </a:solidFill>
                <a:latin typeface="Calibri" pitchFamily="34" charset="0"/>
                <a:ea typeface="Calibri" pitchFamily="34" charset="-122"/>
                <a:cs typeface="Calibri" pitchFamily="34" charset="-120"/>
              </a:rPr>
              <a:t>Còn nếu mua sẵn hoặc tự xây</a:t>
            </a:r>
            <a:endParaRPr lang="en-US" sz="3260" dirty="0"/>
          </a:p>
        </p:txBody>
      </p:sp>
      <p:sp>
        <p:nvSpPr>
          <p:cNvPr id="3" name="Text 1"/>
          <p:cNvSpPr/>
          <p:nvPr/>
        </p:nvSpPr>
        <p:spPr>
          <a:xfrm>
            <a:off x="640080" y="1097280"/>
            <a:ext cx="10881360" cy="502920"/>
          </a:xfrm>
          <a:prstGeom prst="rect">
            <a:avLst/>
          </a:prstGeom>
          <a:noFill/>
          <a:ln/>
        </p:spPr>
        <p:txBody>
          <a:bodyPr wrap="square" lIns="0" tIns="0" rIns="0" bIns="0" rtlCol="0" anchor="ctr"/>
          <a:lstStyle/>
          <a:p>
            <a:pPr indent="0" marL="0">
              <a:buNone/>
            </a:pPr>
            <a:r>
              <a:rPr lang="en-US" sz="2840" b="1" spc="-50" kern="0" dirty="0">
                <a:solidFill>
                  <a:srgbClr val="D97706"/>
                </a:solidFill>
                <a:latin typeface="Calibri" pitchFamily="34" charset="0"/>
                <a:ea typeface="Calibri" pitchFamily="34" charset="-122"/>
                <a:cs typeface="Calibri" pitchFamily="34" charset="-120"/>
              </a:rPr>
              <a:t>Luật không giảm nhẹ vì bạn ít khách hơn.</a:t>
            </a:r>
            <a:endParaRPr lang="en-US" sz="2840" dirty="0"/>
          </a:p>
        </p:txBody>
      </p:sp>
      <p:sp>
        <p:nvSpPr>
          <p:cNvPr id="4" name="Text 2"/>
          <p:cNvSpPr/>
          <p:nvPr/>
        </p:nvSpPr>
        <p:spPr>
          <a:xfrm>
            <a:off x="640080" y="1691640"/>
            <a:ext cx="10881360" cy="777240"/>
          </a:xfrm>
          <a:prstGeom prst="rect">
            <a:avLst/>
          </a:prstGeom>
          <a:noFill/>
          <a:ln/>
        </p:spPr>
        <p:txBody>
          <a:bodyPr wrap="square" lIns="0" tIns="0" rIns="0" bIns="0" rtlCol="0" anchor="ctr"/>
          <a:lstStyle/>
          <a:p>
            <a:pPr indent="0" marL="0">
              <a:lnSpc>
                <a:spcPct val="125000"/>
              </a:lnSpc>
              <a:buNone/>
            </a:pPr>
            <a:r>
              <a:rPr lang="en-US" sz="1550" dirty="0">
                <a:solidFill>
                  <a:srgbClr val="C3B6E0"/>
                </a:solidFill>
                <a:latin typeface="Calibri" pitchFamily="34" charset="0"/>
                <a:ea typeface="Calibri" pitchFamily="34" charset="-122"/>
                <a:cs typeface="Calibri" pitchFamily="34" charset="-120"/>
              </a:rPr>
              <a:t>Bốn văn bản, cùng mức yêu cầu, áp cho cả 49 tổ chức ví điện tử ở Việt Nam — từ cái lớn nhất tới cái nhỏ nhất.</a:t>
            </a:r>
            <a:endParaRPr lang="en-US" sz="1550" dirty="0"/>
          </a:p>
          <a:p>
            <a:pPr indent="0" marL="0">
              <a:lnSpc>
                <a:spcPct val="125000"/>
              </a:lnSpc>
              <a:buNone/>
            </a:pPr>
            <a:r>
              <a:rPr lang="en-US" sz="1550" dirty="0">
                <a:solidFill>
                  <a:srgbClr val="C3B6E0"/>
                </a:solidFill>
                <a:latin typeface="Calibri" pitchFamily="34" charset="0"/>
                <a:ea typeface="Calibri" pitchFamily="34" charset="-122"/>
                <a:cs typeface="Calibri" pitchFamily="34" charset="-120"/>
              </a:rPr>
              <a:t>Nhưng khi đi tìm giải pháp thì bảng giá lại chia theo quy mô:</a:t>
            </a:r>
            <a:endParaRPr lang="en-US" sz="1550" dirty="0"/>
          </a:p>
        </p:txBody>
      </p:sp>
      <p:sp>
        <p:nvSpPr>
          <p:cNvPr id="5" name="Shape 3"/>
          <p:cNvSpPr/>
          <p:nvPr/>
        </p:nvSpPr>
        <p:spPr>
          <a:xfrm>
            <a:off x="640080" y="2651760"/>
            <a:ext cx="10881360" cy="658368"/>
          </a:xfrm>
          <a:prstGeom prst="roundRect">
            <a:avLst>
              <a:gd name="adj" fmla="val 8333"/>
            </a:avLst>
          </a:prstGeom>
          <a:solidFill>
            <a:srgbClr val="2E1A5E"/>
          </a:solidFill>
          <a:ln/>
        </p:spPr>
      </p:sp>
      <p:sp>
        <p:nvSpPr>
          <p:cNvPr id="6" name="Text 4"/>
          <p:cNvSpPr/>
          <p:nvPr/>
        </p:nvSpPr>
        <p:spPr>
          <a:xfrm>
            <a:off x="1005840" y="2651760"/>
            <a:ext cx="2743200" cy="658368"/>
          </a:xfrm>
          <a:prstGeom prst="rect">
            <a:avLst/>
          </a:prstGeom>
          <a:noFill/>
          <a:ln/>
        </p:spPr>
        <p:txBody>
          <a:bodyPr wrap="square" lIns="0" tIns="0" rIns="0" bIns="0" rtlCol="0" anchor="ctr"/>
          <a:lstStyle/>
          <a:p>
            <a:pPr indent="0" marL="0">
              <a:buNone/>
            </a:pPr>
            <a:r>
              <a:rPr lang="en-US" sz="2060" b="1" dirty="0">
                <a:solidFill>
                  <a:srgbClr val="D97706"/>
                </a:solidFill>
                <a:latin typeface="Calibri" pitchFamily="34" charset="0"/>
                <a:ea typeface="Calibri" pitchFamily="34" charset="-122"/>
                <a:cs typeface="Calibri" pitchFamily="34" charset="-120"/>
              </a:rPr>
              <a:t>5 – 9 tỷ đồng</a:t>
            </a:r>
            <a:endParaRPr lang="en-US" sz="2060" dirty="0"/>
          </a:p>
        </p:txBody>
      </p:sp>
      <p:sp>
        <p:nvSpPr>
          <p:cNvPr id="7" name="Text 5"/>
          <p:cNvSpPr/>
          <p:nvPr/>
        </p:nvSpPr>
        <p:spPr>
          <a:xfrm>
            <a:off x="3840480" y="2651760"/>
            <a:ext cx="7315200" cy="658368"/>
          </a:xfrm>
          <a:prstGeom prst="rect">
            <a:avLst/>
          </a:prstGeom>
          <a:noFill/>
          <a:ln/>
        </p:spPr>
        <p:txBody>
          <a:bodyPr wrap="square" lIns="0" tIns="0" rIns="0" bIns="0" rtlCol="0" anchor="ctr"/>
          <a:lstStyle/>
          <a:p>
            <a:pPr indent="0" marL="0">
              <a:buNone/>
            </a:pPr>
            <a:r>
              <a:rPr lang="en-US" sz="1400" dirty="0">
                <a:solidFill>
                  <a:srgbClr val="C3B6E0"/>
                </a:solidFill>
                <a:latin typeface="Calibri" pitchFamily="34" charset="0"/>
                <a:ea typeface="Calibri" pitchFamily="34" charset="-122"/>
                <a:cs typeface="Calibri" pitchFamily="34" charset="-120"/>
              </a:rPr>
              <a:t>năm đầu, nếu mua nền tảng AI chăm sóc khách hàng nước ngoài</a:t>
            </a:r>
            <a:endParaRPr lang="en-US" sz="1400" dirty="0"/>
          </a:p>
        </p:txBody>
      </p:sp>
      <p:sp>
        <p:nvSpPr>
          <p:cNvPr id="8" name="Shape 6"/>
          <p:cNvSpPr/>
          <p:nvPr/>
        </p:nvSpPr>
        <p:spPr>
          <a:xfrm>
            <a:off x="640080" y="3429000"/>
            <a:ext cx="10881360" cy="658368"/>
          </a:xfrm>
          <a:prstGeom prst="roundRect">
            <a:avLst>
              <a:gd name="adj" fmla="val 8333"/>
            </a:avLst>
          </a:prstGeom>
          <a:solidFill>
            <a:srgbClr val="2E1A5E"/>
          </a:solidFill>
          <a:ln/>
        </p:spPr>
      </p:sp>
      <p:sp>
        <p:nvSpPr>
          <p:cNvPr id="9" name="Text 7"/>
          <p:cNvSpPr/>
          <p:nvPr/>
        </p:nvSpPr>
        <p:spPr>
          <a:xfrm>
            <a:off x="1005840" y="3429000"/>
            <a:ext cx="2743200" cy="658368"/>
          </a:xfrm>
          <a:prstGeom prst="rect">
            <a:avLst/>
          </a:prstGeom>
          <a:noFill/>
          <a:ln/>
        </p:spPr>
        <p:txBody>
          <a:bodyPr wrap="square" lIns="0" tIns="0" rIns="0" bIns="0" rtlCol="0" anchor="ctr"/>
          <a:lstStyle/>
          <a:p>
            <a:pPr indent="0" marL="0">
              <a:buNone/>
            </a:pPr>
            <a:r>
              <a:rPr lang="en-US" sz="2060" b="1" dirty="0">
                <a:solidFill>
                  <a:srgbClr val="D97706"/>
                </a:solidFill>
                <a:latin typeface="Calibri" pitchFamily="34" charset="0"/>
                <a:ea typeface="Calibri" pitchFamily="34" charset="-122"/>
                <a:cs typeface="Calibri" pitchFamily="34" charset="-120"/>
              </a:rPr>
              <a:t>3 – 6 tháng</a:t>
            </a:r>
            <a:endParaRPr lang="en-US" sz="2060" dirty="0"/>
          </a:p>
        </p:txBody>
      </p:sp>
      <p:sp>
        <p:nvSpPr>
          <p:cNvPr id="10" name="Text 8"/>
          <p:cNvSpPr/>
          <p:nvPr/>
        </p:nvSpPr>
        <p:spPr>
          <a:xfrm>
            <a:off x="3840480" y="3429000"/>
            <a:ext cx="7315200" cy="658368"/>
          </a:xfrm>
          <a:prstGeom prst="rect">
            <a:avLst/>
          </a:prstGeom>
          <a:noFill/>
          <a:ln/>
        </p:spPr>
        <p:txBody>
          <a:bodyPr wrap="square" lIns="0" tIns="0" rIns="0" bIns="0" rtlCol="0" anchor="ctr"/>
          <a:lstStyle/>
          <a:p>
            <a:pPr indent="0" marL="0">
              <a:buNone/>
            </a:pPr>
            <a:r>
              <a:rPr lang="en-US" sz="1400" dirty="0">
                <a:solidFill>
                  <a:srgbClr val="C3B6E0"/>
                </a:solidFill>
                <a:latin typeface="Calibri" pitchFamily="34" charset="0"/>
                <a:ea typeface="Calibri" pitchFamily="34" charset="-122"/>
                <a:cs typeface="Calibri" pitchFamily="34" charset="-120"/>
              </a:rPr>
              <a:t>nếu tuyển người tự xây — chỉ riêng để họ hiểu quy trình tra soát với ngân hàng</a:t>
            </a:r>
            <a:endParaRPr lang="en-US" sz="1400" dirty="0"/>
          </a:p>
        </p:txBody>
      </p:sp>
      <p:sp>
        <p:nvSpPr>
          <p:cNvPr id="11" name="Shape 9"/>
          <p:cNvSpPr/>
          <p:nvPr/>
        </p:nvSpPr>
        <p:spPr>
          <a:xfrm>
            <a:off x="640080" y="4206240"/>
            <a:ext cx="10881360" cy="658368"/>
          </a:xfrm>
          <a:prstGeom prst="roundRect">
            <a:avLst>
              <a:gd name="adj" fmla="val 8333"/>
            </a:avLst>
          </a:prstGeom>
          <a:solidFill>
            <a:srgbClr val="2E1A5E"/>
          </a:solidFill>
          <a:ln/>
        </p:spPr>
      </p:sp>
      <p:sp>
        <p:nvSpPr>
          <p:cNvPr id="12" name="Text 10"/>
          <p:cNvSpPr/>
          <p:nvPr/>
        </p:nvSpPr>
        <p:spPr>
          <a:xfrm>
            <a:off x="1005840" y="4206240"/>
            <a:ext cx="2743200" cy="658368"/>
          </a:xfrm>
          <a:prstGeom prst="rect">
            <a:avLst/>
          </a:prstGeom>
          <a:noFill/>
          <a:ln/>
        </p:spPr>
        <p:txBody>
          <a:bodyPr wrap="square" lIns="0" tIns="0" rIns="0" bIns="0" rtlCol="0" anchor="ctr"/>
          <a:lstStyle/>
          <a:p>
            <a:pPr indent="0" marL="0">
              <a:buNone/>
            </a:pPr>
            <a:r>
              <a:rPr lang="en-US" sz="2060" b="1" dirty="0">
                <a:solidFill>
                  <a:srgbClr val="D97706"/>
                </a:solidFill>
                <a:latin typeface="Calibri" pitchFamily="34" charset="0"/>
                <a:ea typeface="Calibri" pitchFamily="34" charset="-122"/>
                <a:cs typeface="Calibri" pitchFamily="34" charset="-120"/>
              </a:rPr>
              <a:t>~102.000đ</a:t>
            </a:r>
            <a:endParaRPr lang="en-US" sz="2060" dirty="0"/>
          </a:p>
        </p:txBody>
      </p:sp>
      <p:sp>
        <p:nvSpPr>
          <p:cNvPr id="13" name="Text 11"/>
          <p:cNvSpPr/>
          <p:nvPr/>
        </p:nvSpPr>
        <p:spPr>
          <a:xfrm>
            <a:off x="3840480" y="4206240"/>
            <a:ext cx="7315200" cy="658368"/>
          </a:xfrm>
          <a:prstGeom prst="rect">
            <a:avLst/>
          </a:prstGeom>
          <a:noFill/>
          <a:ln/>
        </p:spPr>
        <p:txBody>
          <a:bodyPr wrap="square" lIns="0" tIns="0" rIns="0" bIns="0" rtlCol="0" anchor="ctr"/>
          <a:lstStyle/>
          <a:p>
            <a:pPr indent="0" marL="0">
              <a:buNone/>
            </a:pPr>
            <a:r>
              <a:rPr lang="en-US" sz="1400" dirty="0">
                <a:solidFill>
                  <a:srgbClr val="C3B6E0"/>
                </a:solidFill>
                <a:latin typeface="Calibri" pitchFamily="34" charset="0"/>
                <a:ea typeface="Calibri" pitchFamily="34" charset="-122"/>
                <a:cs typeface="Calibri" pitchFamily="34" charset="-120"/>
              </a:rPr>
              <a:t>số dư trung bình một ví đang hoạt động trên thị trường</a:t>
            </a:r>
            <a:endParaRPr lang="en-US" sz="1400" dirty="0"/>
          </a:p>
        </p:txBody>
      </p:sp>
      <p:sp>
        <p:nvSpPr>
          <p:cNvPr id="14" name="Text 12"/>
          <p:cNvSpPr/>
          <p:nvPr/>
        </p:nvSpPr>
        <p:spPr>
          <a:xfrm>
            <a:off x="640080" y="5212080"/>
            <a:ext cx="10881360" cy="548640"/>
          </a:xfrm>
          <a:prstGeom prst="rect">
            <a:avLst/>
          </a:prstGeom>
          <a:noFill/>
          <a:ln/>
        </p:spPr>
        <p:txBody>
          <a:bodyPr wrap="square" lIns="0" tIns="0" rIns="0" bIns="0" rtlCol="0" anchor="ctr"/>
          <a:lstStyle/>
          <a:p>
            <a:pPr indent="0" marL="0">
              <a:buNone/>
            </a:pPr>
            <a:r>
              <a:rPr lang="en-US" sz="3050" b="1" spc="-70" kern="0" dirty="0">
                <a:solidFill>
                  <a:srgbClr val="FFFFFF"/>
                </a:solidFill>
                <a:latin typeface="Calibri" pitchFamily="34" charset="0"/>
                <a:ea typeface="Calibri" pitchFamily="34" charset="-122"/>
                <a:cs typeface="Calibri" pitchFamily="34" charset="-120"/>
              </a:rPr>
              <a:t>Khoảng cách đó không phải khoảng cách công nghệ.</a:t>
            </a:r>
            <a:endParaRPr lang="en-US" sz="3050" dirty="0"/>
          </a:p>
        </p:txBody>
      </p:sp>
      <p:sp>
        <p:nvSpPr>
          <p:cNvPr id="15" name="Text 13"/>
          <p:cNvSpPr/>
          <p:nvPr/>
        </p:nvSpPr>
        <p:spPr>
          <a:xfrm>
            <a:off x="640080" y="5897880"/>
            <a:ext cx="10881360" cy="292608"/>
          </a:xfrm>
          <a:prstGeom prst="rect">
            <a:avLst/>
          </a:prstGeom>
          <a:noFill/>
          <a:ln/>
        </p:spPr>
        <p:txBody>
          <a:bodyPr wrap="square" lIns="0" tIns="0" rIns="0" bIns="0" rtlCol="0" anchor="t"/>
          <a:lstStyle/>
          <a:p>
            <a:pPr indent="0" marL="0">
              <a:buNone/>
            </a:pPr>
            <a:r>
              <a:rPr lang="en-US" sz="1000" i="1" dirty="0">
                <a:solidFill>
                  <a:srgbClr val="8B7FB0"/>
                </a:solidFill>
                <a:latin typeface="Calibri" pitchFamily="34" charset="0"/>
                <a:ea typeface="Calibri" pitchFamily="34" charset="-122"/>
                <a:cs typeface="Calibri" pitchFamily="34" charset="-120"/>
              </a:rPr>
              <a:t>Số tổ chức và số dư: NHNN · Giá nền tảng nước ngoài: giá niêm yết công khai, chưa gồm đàm phán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F"/>
        </a:solidFill>
      </p:bgPr>
    </p:bg>
    <p:spTree>
      <p:nvGrpSpPr>
        <p:cNvPr id="1" name=""/>
        <p:cNvGrpSpPr/>
        <p:nvPr/>
      </p:nvGrpSpPr>
      <p:grpSpPr>
        <a:xfrm>
          <a:off x="0" y="0"/>
          <a:ext cx="0" cy="0"/>
          <a:chOff x="0" y="0"/>
          <a:chExt cx="0" cy="0"/>
        </a:xfrm>
      </p:grpSpPr>
      <p:sp>
        <p:nvSpPr>
          <p:cNvPr id="2" name="Text 0"/>
          <p:cNvSpPr/>
          <p:nvPr/>
        </p:nvSpPr>
        <p:spPr>
          <a:xfrm>
            <a:off x="640080" y="438912"/>
            <a:ext cx="10881360" cy="566928"/>
          </a:xfrm>
          <a:prstGeom prst="rect">
            <a:avLst/>
          </a:prstGeom>
          <a:noFill/>
          <a:ln/>
        </p:spPr>
        <p:txBody>
          <a:bodyPr wrap="square" lIns="0" tIns="0" rIns="0" bIns="0" rtlCol="0" anchor="ctr"/>
          <a:lstStyle/>
          <a:p>
            <a:pPr indent="0" marL="0">
              <a:buNone/>
            </a:pPr>
            <a:r>
              <a:rPr lang="en-US" sz="3260" b="1" spc="-70" kern="0" dirty="0">
                <a:solidFill>
                  <a:srgbClr val="1A1035"/>
                </a:solidFill>
                <a:latin typeface="Calibri" pitchFamily="34" charset="0"/>
                <a:ea typeface="Calibri" pitchFamily="34" charset="-122"/>
                <a:cs typeface="Calibri" pitchFamily="34" charset="-120"/>
              </a:rPr>
              <a:t>Trợ lý Sen làm được gì?</a:t>
            </a:r>
            <a:endParaRPr lang="en-US" sz="3260" dirty="0"/>
          </a:p>
        </p:txBody>
      </p:sp>
      <p:sp>
        <p:nvSpPr>
          <p:cNvPr id="3" name="Text 1"/>
          <p:cNvSpPr/>
          <p:nvPr/>
        </p:nvSpPr>
        <p:spPr>
          <a:xfrm>
            <a:off x="640080" y="1051560"/>
            <a:ext cx="10881360" cy="731520"/>
          </a:xfrm>
          <a:prstGeom prst="rect">
            <a:avLst/>
          </a:prstGeom>
          <a:noFill/>
          <a:ln/>
        </p:spPr>
        <p:txBody>
          <a:bodyPr wrap="square" lIns="0" tIns="0" rIns="0" bIns="0" rtlCol="0" anchor="ctr"/>
          <a:lstStyle/>
          <a:p>
            <a:pPr indent="0" marL="0">
              <a:lnSpc>
                <a:spcPct val="125000"/>
              </a:lnSpc>
              <a:buNone/>
            </a:pPr>
            <a:r>
              <a:rPr lang="en-US" sz="1600" dirty="0">
                <a:solidFill>
                  <a:srgbClr val="6B6280"/>
                </a:solidFill>
                <a:latin typeface="Calibri" pitchFamily="34" charset="0"/>
                <a:ea typeface="Calibri" pitchFamily="34" charset="-122"/>
                <a:cs typeface="Calibri" pitchFamily="34" charset="-120"/>
              </a:rPr>
              <a:t>Sen nói chuyện trực tiếp với khách. Ca nào chỉ cần thông tin thì xong luôn ở đó. Ca nào cần xử lý thật thì Sen tự phân loại và dựng sẵn hồ sơ cho nhân viên xem.</a:t>
            </a:r>
            <a:endParaRPr lang="en-US" sz="1600" dirty="0"/>
          </a:p>
        </p:txBody>
      </p:sp>
      <p:sp>
        <p:nvSpPr>
          <p:cNvPr id="4" name="Text 2"/>
          <p:cNvSpPr/>
          <p:nvPr/>
        </p:nvSpPr>
        <p:spPr>
          <a:xfrm>
            <a:off x="3383280" y="1874520"/>
            <a:ext cx="2624328" cy="274320"/>
          </a:xfrm>
          <a:prstGeom prst="rect">
            <a:avLst/>
          </a:prstGeom>
          <a:noFill/>
          <a:ln/>
        </p:spPr>
        <p:txBody>
          <a:bodyPr wrap="square" lIns="0" tIns="0" rIns="0" bIns="0" rtlCol="0" anchor="ctr"/>
          <a:lstStyle/>
          <a:p>
            <a:pPr algn="ctr" indent="0" marL="0">
              <a:buNone/>
            </a:pPr>
            <a:r>
              <a:rPr lang="en-US" sz="1150" b="1" dirty="0">
                <a:solidFill>
                  <a:srgbClr val="6D28D9"/>
                </a:solidFill>
                <a:latin typeface="Calibri" pitchFamily="34" charset="0"/>
                <a:ea typeface="Calibri" pitchFamily="34" charset="-122"/>
                <a:cs typeface="Calibri" pitchFamily="34" charset="-120"/>
              </a:rPr>
              <a:t>Trong ví</a:t>
            </a:r>
            <a:endParaRPr lang="en-US" sz="1150" dirty="0"/>
          </a:p>
        </p:txBody>
      </p:sp>
      <p:sp>
        <p:nvSpPr>
          <p:cNvPr id="5" name="Text 3"/>
          <p:cNvSpPr/>
          <p:nvPr/>
        </p:nvSpPr>
        <p:spPr>
          <a:xfrm>
            <a:off x="6117336" y="1874520"/>
            <a:ext cx="2624328" cy="274320"/>
          </a:xfrm>
          <a:prstGeom prst="rect">
            <a:avLst/>
          </a:prstGeom>
          <a:noFill/>
          <a:ln/>
        </p:spPr>
        <p:txBody>
          <a:bodyPr wrap="square" lIns="0" tIns="0" rIns="0" bIns="0" rtlCol="0" anchor="ctr"/>
          <a:lstStyle/>
          <a:p>
            <a:pPr algn="ctr" indent="0" marL="0">
              <a:buNone/>
            </a:pPr>
            <a:r>
              <a:rPr lang="en-US" sz="1150" b="1" dirty="0">
                <a:solidFill>
                  <a:srgbClr val="6D28D9"/>
                </a:solidFill>
                <a:latin typeface="Calibri" pitchFamily="34" charset="0"/>
                <a:ea typeface="Calibri" pitchFamily="34" charset="-122"/>
                <a:cs typeface="Calibri" pitchFamily="34" charset="-120"/>
              </a:rPr>
              <a:t>Từ ngân hàng vào</a:t>
            </a:r>
            <a:endParaRPr lang="en-US" sz="1150" dirty="0"/>
          </a:p>
        </p:txBody>
      </p:sp>
      <p:sp>
        <p:nvSpPr>
          <p:cNvPr id="6" name="Text 4"/>
          <p:cNvSpPr/>
          <p:nvPr/>
        </p:nvSpPr>
        <p:spPr>
          <a:xfrm>
            <a:off x="8851392" y="1874520"/>
            <a:ext cx="2624328" cy="274320"/>
          </a:xfrm>
          <a:prstGeom prst="rect">
            <a:avLst/>
          </a:prstGeom>
          <a:noFill/>
          <a:ln/>
        </p:spPr>
        <p:txBody>
          <a:bodyPr wrap="square" lIns="0" tIns="0" rIns="0" bIns="0" rtlCol="0" anchor="ctr"/>
          <a:lstStyle/>
          <a:p>
            <a:pPr algn="ctr" indent="0" marL="0">
              <a:buNone/>
            </a:pPr>
            <a:r>
              <a:rPr lang="en-US" sz="1150" b="1" dirty="0">
                <a:solidFill>
                  <a:srgbClr val="6D28D9"/>
                </a:solidFill>
                <a:latin typeface="Calibri" pitchFamily="34" charset="0"/>
                <a:ea typeface="Calibri" pitchFamily="34" charset="-122"/>
                <a:cs typeface="Calibri" pitchFamily="34" charset="-120"/>
              </a:rPr>
              <a:t>Từ ví ra ngân hàng</a:t>
            </a:r>
            <a:endParaRPr lang="en-US" sz="1150" dirty="0"/>
          </a:p>
        </p:txBody>
      </p:sp>
      <p:sp>
        <p:nvSpPr>
          <p:cNvPr id="7" name="Text 5"/>
          <p:cNvSpPr/>
          <p:nvPr/>
        </p:nvSpPr>
        <p:spPr>
          <a:xfrm>
            <a:off x="640080" y="2212848"/>
            <a:ext cx="2606040" cy="548640"/>
          </a:xfrm>
          <a:prstGeom prst="rect">
            <a:avLst/>
          </a:prstGeom>
          <a:noFill/>
          <a:ln/>
        </p:spPr>
        <p:txBody>
          <a:bodyPr wrap="square" lIns="0" tIns="0" rIns="0" bIns="0" rtlCol="0" anchor="ctr"/>
          <a:lstStyle/>
          <a:p>
            <a:pPr algn="r" indent="0" marL="0">
              <a:buNone/>
            </a:pPr>
            <a:r>
              <a:rPr lang="en-US" sz="1350" b="1" dirty="0">
                <a:solidFill>
                  <a:srgbClr val="1A1035"/>
                </a:solidFill>
                <a:latin typeface="Calibri" pitchFamily="34" charset="0"/>
                <a:ea typeface="Calibri" pitchFamily="34" charset="-122"/>
                <a:cs typeface="Calibri" pitchFamily="34" charset="-120"/>
              </a:rPr>
              <a:t>Chuyển nhầm người</a:t>
            </a:r>
            <a:endParaRPr lang="en-US" sz="1350" dirty="0"/>
          </a:p>
        </p:txBody>
      </p:sp>
      <p:sp>
        <p:nvSpPr>
          <p:cNvPr id="8" name="Shape 6"/>
          <p:cNvSpPr/>
          <p:nvPr/>
        </p:nvSpPr>
        <p:spPr>
          <a:xfrm>
            <a:off x="3383280" y="2212848"/>
            <a:ext cx="2624328" cy="548640"/>
          </a:xfrm>
          <a:prstGeom prst="roundRect">
            <a:avLst>
              <a:gd name="adj" fmla="val 8333"/>
            </a:avLst>
          </a:prstGeom>
          <a:solidFill>
            <a:srgbClr val="FFFFFF"/>
          </a:solidFill>
          <a:ln w="12700">
            <a:solidFill>
              <a:srgbClr val="E4DDF5"/>
            </a:solidFill>
            <a:prstDash val="solid"/>
          </a:ln>
        </p:spPr>
      </p:sp>
      <p:sp>
        <p:nvSpPr>
          <p:cNvPr id="9" name="Text 7"/>
          <p:cNvSpPr/>
          <p:nvPr/>
        </p:nvSpPr>
        <p:spPr>
          <a:xfrm>
            <a:off x="3383280" y="2212848"/>
            <a:ext cx="2624328" cy="548640"/>
          </a:xfrm>
          <a:prstGeom prst="rect">
            <a:avLst/>
          </a:prstGeom>
          <a:noFill/>
          <a:ln/>
        </p:spPr>
        <p:txBody>
          <a:bodyPr wrap="square" lIns="0" tIns="0" rIns="0" bIns="0" rtlCol="0" anchor="ctr"/>
          <a:lstStyle/>
          <a:p>
            <a:pPr algn="ctr" indent="0" marL="0">
              <a:buNone/>
            </a:pPr>
            <a:r>
              <a:rPr lang="en-US" sz="1050" dirty="0">
                <a:solidFill>
                  <a:srgbClr val="6B6280"/>
                </a:solidFill>
                <a:latin typeface="Calibri" pitchFamily="34" charset="0"/>
                <a:ea typeface="Calibri" pitchFamily="34" charset="-122"/>
                <a:cs typeface="Calibri" pitchFamily="34" charset="-120"/>
              </a:rPr>
              <a:t>xong trong nội bộ ví</a:t>
            </a:r>
            <a:endParaRPr lang="en-US" sz="1050" dirty="0"/>
          </a:p>
        </p:txBody>
      </p:sp>
      <p:sp>
        <p:nvSpPr>
          <p:cNvPr id="10" name="Shape 8"/>
          <p:cNvSpPr/>
          <p:nvPr/>
        </p:nvSpPr>
        <p:spPr>
          <a:xfrm>
            <a:off x="6117336" y="2212848"/>
            <a:ext cx="2624328" cy="548640"/>
          </a:xfrm>
          <a:prstGeom prst="roundRect">
            <a:avLst>
              <a:gd name="adj" fmla="val 8333"/>
            </a:avLst>
          </a:prstGeom>
          <a:solidFill>
            <a:srgbClr val="EDE4FB"/>
          </a:solidFill>
          <a:ln w="12700">
            <a:solidFill>
              <a:srgbClr val="A78BFA"/>
            </a:solidFill>
            <a:prstDash val="solid"/>
          </a:ln>
        </p:spPr>
      </p:sp>
      <p:sp>
        <p:nvSpPr>
          <p:cNvPr id="11" name="Text 9"/>
          <p:cNvSpPr/>
          <p:nvPr/>
        </p:nvSpPr>
        <p:spPr>
          <a:xfrm>
            <a:off x="6117336" y="2212848"/>
            <a:ext cx="2624328" cy="548640"/>
          </a:xfrm>
          <a:prstGeom prst="rect">
            <a:avLst/>
          </a:prstGeom>
          <a:noFill/>
          <a:ln/>
        </p:spPr>
        <p:txBody>
          <a:bodyPr wrap="square" lIns="0" tIns="0" rIns="0" bIns="0" rtlCol="0" anchor="ctr"/>
          <a:lstStyle/>
          <a:p>
            <a:pPr algn="ctr" indent="0" marL="0">
              <a:buNone/>
            </a:pPr>
            <a:r>
              <a:rPr lang="en-US" sz="1050" dirty="0">
                <a:solidFill>
                  <a:srgbClr val="5B21B6"/>
                </a:solidFill>
                <a:latin typeface="Calibri" pitchFamily="34" charset="0"/>
                <a:ea typeface="Calibri" pitchFamily="34" charset="-122"/>
                <a:cs typeface="Calibri" pitchFamily="34" charset="-120"/>
              </a:rPr>
              <a:t>chờ ngân hàng đối tác</a:t>
            </a:r>
            <a:endParaRPr lang="en-US" sz="1050" dirty="0"/>
          </a:p>
        </p:txBody>
      </p:sp>
      <p:sp>
        <p:nvSpPr>
          <p:cNvPr id="12" name="Shape 10"/>
          <p:cNvSpPr/>
          <p:nvPr/>
        </p:nvSpPr>
        <p:spPr>
          <a:xfrm>
            <a:off x="8851392" y="2212848"/>
            <a:ext cx="2624328" cy="548640"/>
          </a:xfrm>
          <a:prstGeom prst="roundRect">
            <a:avLst>
              <a:gd name="adj" fmla="val 8333"/>
            </a:avLst>
          </a:prstGeom>
          <a:solidFill>
            <a:srgbClr val="EDE4FB"/>
          </a:solidFill>
          <a:ln w="12700">
            <a:solidFill>
              <a:srgbClr val="A78BFA"/>
            </a:solidFill>
            <a:prstDash val="solid"/>
          </a:ln>
        </p:spPr>
      </p:sp>
      <p:sp>
        <p:nvSpPr>
          <p:cNvPr id="13" name="Text 11"/>
          <p:cNvSpPr/>
          <p:nvPr/>
        </p:nvSpPr>
        <p:spPr>
          <a:xfrm>
            <a:off x="8851392" y="2212848"/>
            <a:ext cx="2624328" cy="548640"/>
          </a:xfrm>
          <a:prstGeom prst="rect">
            <a:avLst/>
          </a:prstGeom>
          <a:noFill/>
          <a:ln/>
        </p:spPr>
        <p:txBody>
          <a:bodyPr wrap="square" lIns="0" tIns="0" rIns="0" bIns="0" rtlCol="0" anchor="ctr"/>
          <a:lstStyle/>
          <a:p>
            <a:pPr algn="ctr" indent="0" marL="0">
              <a:buNone/>
            </a:pPr>
            <a:r>
              <a:rPr lang="en-US" sz="1050" dirty="0">
                <a:solidFill>
                  <a:srgbClr val="5B21B6"/>
                </a:solidFill>
                <a:latin typeface="Calibri" pitchFamily="34" charset="0"/>
                <a:ea typeface="Calibri" pitchFamily="34" charset="-122"/>
                <a:cs typeface="Calibri" pitchFamily="34" charset="-120"/>
              </a:rPr>
              <a:t>chờ ngân hàng đối tác</a:t>
            </a:r>
            <a:endParaRPr lang="en-US" sz="1050" dirty="0"/>
          </a:p>
        </p:txBody>
      </p:sp>
      <p:sp>
        <p:nvSpPr>
          <p:cNvPr id="14" name="Text 12"/>
          <p:cNvSpPr/>
          <p:nvPr/>
        </p:nvSpPr>
        <p:spPr>
          <a:xfrm>
            <a:off x="640080" y="2852928"/>
            <a:ext cx="2606040" cy="548640"/>
          </a:xfrm>
          <a:prstGeom prst="rect">
            <a:avLst/>
          </a:prstGeom>
          <a:noFill/>
          <a:ln/>
        </p:spPr>
        <p:txBody>
          <a:bodyPr wrap="square" lIns="0" tIns="0" rIns="0" bIns="0" rtlCol="0" anchor="ctr"/>
          <a:lstStyle/>
          <a:p>
            <a:pPr algn="r" indent="0" marL="0">
              <a:buNone/>
            </a:pPr>
            <a:r>
              <a:rPr lang="en-US" sz="1350" b="1" dirty="0">
                <a:solidFill>
                  <a:srgbClr val="1A1035"/>
                </a:solidFill>
                <a:latin typeface="Calibri" pitchFamily="34" charset="0"/>
                <a:ea typeface="Calibri" pitchFamily="34" charset="-122"/>
                <a:cs typeface="Calibri" pitchFamily="34" charset="-120"/>
              </a:rPr>
              <a:t>Tiền chưa về</a:t>
            </a:r>
            <a:endParaRPr lang="en-US" sz="1350" dirty="0"/>
          </a:p>
        </p:txBody>
      </p:sp>
      <p:sp>
        <p:nvSpPr>
          <p:cNvPr id="15" name="Shape 13"/>
          <p:cNvSpPr/>
          <p:nvPr/>
        </p:nvSpPr>
        <p:spPr>
          <a:xfrm>
            <a:off x="3383280" y="2852928"/>
            <a:ext cx="2624328" cy="548640"/>
          </a:xfrm>
          <a:prstGeom prst="roundRect">
            <a:avLst>
              <a:gd name="adj" fmla="val 8333"/>
            </a:avLst>
          </a:prstGeom>
          <a:solidFill>
            <a:srgbClr val="FFFFFF"/>
          </a:solidFill>
          <a:ln w="12700">
            <a:solidFill>
              <a:srgbClr val="E4DDF5"/>
            </a:solidFill>
            <a:prstDash val="solid"/>
          </a:ln>
        </p:spPr>
      </p:sp>
      <p:sp>
        <p:nvSpPr>
          <p:cNvPr id="16" name="Text 14"/>
          <p:cNvSpPr/>
          <p:nvPr/>
        </p:nvSpPr>
        <p:spPr>
          <a:xfrm>
            <a:off x="3383280" y="2852928"/>
            <a:ext cx="2624328" cy="548640"/>
          </a:xfrm>
          <a:prstGeom prst="rect">
            <a:avLst/>
          </a:prstGeom>
          <a:noFill/>
          <a:ln/>
        </p:spPr>
        <p:txBody>
          <a:bodyPr wrap="square" lIns="0" tIns="0" rIns="0" bIns="0" rtlCol="0" anchor="ctr"/>
          <a:lstStyle/>
          <a:p>
            <a:pPr algn="ctr" indent="0" marL="0">
              <a:buNone/>
            </a:pPr>
            <a:r>
              <a:rPr lang="en-US" sz="1050" dirty="0">
                <a:solidFill>
                  <a:srgbClr val="6B6280"/>
                </a:solidFill>
                <a:latin typeface="Calibri" pitchFamily="34" charset="0"/>
                <a:ea typeface="Calibri" pitchFamily="34" charset="-122"/>
                <a:cs typeface="Calibri" pitchFamily="34" charset="-120"/>
              </a:rPr>
              <a:t>xong trong nội bộ ví</a:t>
            </a:r>
            <a:endParaRPr lang="en-US" sz="1050" dirty="0"/>
          </a:p>
        </p:txBody>
      </p:sp>
      <p:sp>
        <p:nvSpPr>
          <p:cNvPr id="17" name="Shape 15"/>
          <p:cNvSpPr/>
          <p:nvPr/>
        </p:nvSpPr>
        <p:spPr>
          <a:xfrm>
            <a:off x="6117336" y="2852928"/>
            <a:ext cx="2624328" cy="548640"/>
          </a:xfrm>
          <a:prstGeom prst="roundRect">
            <a:avLst>
              <a:gd name="adj" fmla="val 8333"/>
            </a:avLst>
          </a:prstGeom>
          <a:solidFill>
            <a:srgbClr val="EDE4FB"/>
          </a:solidFill>
          <a:ln w="12700">
            <a:solidFill>
              <a:srgbClr val="A78BFA"/>
            </a:solidFill>
            <a:prstDash val="solid"/>
          </a:ln>
        </p:spPr>
      </p:sp>
      <p:sp>
        <p:nvSpPr>
          <p:cNvPr id="18" name="Text 16"/>
          <p:cNvSpPr/>
          <p:nvPr/>
        </p:nvSpPr>
        <p:spPr>
          <a:xfrm>
            <a:off x="6117336" y="2852928"/>
            <a:ext cx="2624328" cy="548640"/>
          </a:xfrm>
          <a:prstGeom prst="rect">
            <a:avLst/>
          </a:prstGeom>
          <a:noFill/>
          <a:ln/>
        </p:spPr>
        <p:txBody>
          <a:bodyPr wrap="square" lIns="0" tIns="0" rIns="0" bIns="0" rtlCol="0" anchor="ctr"/>
          <a:lstStyle/>
          <a:p>
            <a:pPr algn="ctr" indent="0" marL="0">
              <a:buNone/>
            </a:pPr>
            <a:r>
              <a:rPr lang="en-US" sz="1050" dirty="0">
                <a:solidFill>
                  <a:srgbClr val="5B21B6"/>
                </a:solidFill>
                <a:latin typeface="Calibri" pitchFamily="34" charset="0"/>
                <a:ea typeface="Calibri" pitchFamily="34" charset="-122"/>
                <a:cs typeface="Calibri" pitchFamily="34" charset="-120"/>
              </a:rPr>
              <a:t>chờ ngân hàng đối tác</a:t>
            </a:r>
            <a:endParaRPr lang="en-US" sz="1050" dirty="0"/>
          </a:p>
        </p:txBody>
      </p:sp>
      <p:sp>
        <p:nvSpPr>
          <p:cNvPr id="19" name="Shape 17"/>
          <p:cNvSpPr/>
          <p:nvPr/>
        </p:nvSpPr>
        <p:spPr>
          <a:xfrm>
            <a:off x="8851392" y="2852928"/>
            <a:ext cx="2624328" cy="548640"/>
          </a:xfrm>
          <a:prstGeom prst="roundRect">
            <a:avLst>
              <a:gd name="adj" fmla="val 8333"/>
            </a:avLst>
          </a:prstGeom>
          <a:solidFill>
            <a:srgbClr val="EDE4FB"/>
          </a:solidFill>
          <a:ln w="12700">
            <a:solidFill>
              <a:srgbClr val="A78BFA"/>
            </a:solidFill>
            <a:prstDash val="solid"/>
          </a:ln>
        </p:spPr>
      </p:sp>
      <p:sp>
        <p:nvSpPr>
          <p:cNvPr id="20" name="Text 18"/>
          <p:cNvSpPr/>
          <p:nvPr/>
        </p:nvSpPr>
        <p:spPr>
          <a:xfrm>
            <a:off x="8851392" y="2852928"/>
            <a:ext cx="2624328" cy="548640"/>
          </a:xfrm>
          <a:prstGeom prst="rect">
            <a:avLst/>
          </a:prstGeom>
          <a:noFill/>
          <a:ln/>
        </p:spPr>
        <p:txBody>
          <a:bodyPr wrap="square" lIns="0" tIns="0" rIns="0" bIns="0" rtlCol="0" anchor="ctr"/>
          <a:lstStyle/>
          <a:p>
            <a:pPr algn="ctr" indent="0" marL="0">
              <a:buNone/>
            </a:pPr>
            <a:r>
              <a:rPr lang="en-US" sz="1050" dirty="0">
                <a:solidFill>
                  <a:srgbClr val="5B21B6"/>
                </a:solidFill>
                <a:latin typeface="Calibri" pitchFamily="34" charset="0"/>
                <a:ea typeface="Calibri" pitchFamily="34" charset="-122"/>
                <a:cs typeface="Calibri" pitchFamily="34" charset="-120"/>
              </a:rPr>
              <a:t>chờ ngân hàng đối tác</a:t>
            </a:r>
            <a:endParaRPr lang="en-US" sz="1050" dirty="0"/>
          </a:p>
        </p:txBody>
      </p:sp>
      <p:sp>
        <p:nvSpPr>
          <p:cNvPr id="21" name="Text 19"/>
          <p:cNvSpPr/>
          <p:nvPr/>
        </p:nvSpPr>
        <p:spPr>
          <a:xfrm>
            <a:off x="640080" y="3493008"/>
            <a:ext cx="2606040" cy="548640"/>
          </a:xfrm>
          <a:prstGeom prst="rect">
            <a:avLst/>
          </a:prstGeom>
          <a:noFill/>
          <a:ln/>
        </p:spPr>
        <p:txBody>
          <a:bodyPr wrap="square" lIns="0" tIns="0" rIns="0" bIns="0" rtlCol="0" anchor="ctr"/>
          <a:lstStyle/>
          <a:p>
            <a:pPr algn="r" indent="0" marL="0">
              <a:buNone/>
            </a:pPr>
            <a:r>
              <a:rPr lang="en-US" sz="1350" b="1" dirty="0">
                <a:solidFill>
                  <a:srgbClr val="1A1035"/>
                </a:solidFill>
                <a:latin typeface="Calibri" pitchFamily="34" charset="0"/>
                <a:ea typeface="Calibri" pitchFamily="34" charset="-122"/>
                <a:cs typeface="Calibri" pitchFamily="34" charset="-120"/>
              </a:rPr>
              <a:t>Trừ hai lần</a:t>
            </a:r>
            <a:endParaRPr lang="en-US" sz="1350" dirty="0"/>
          </a:p>
        </p:txBody>
      </p:sp>
      <p:sp>
        <p:nvSpPr>
          <p:cNvPr id="22" name="Shape 20"/>
          <p:cNvSpPr/>
          <p:nvPr/>
        </p:nvSpPr>
        <p:spPr>
          <a:xfrm>
            <a:off x="3383280" y="3493008"/>
            <a:ext cx="2624328" cy="548640"/>
          </a:xfrm>
          <a:prstGeom prst="roundRect">
            <a:avLst>
              <a:gd name="adj" fmla="val 8333"/>
            </a:avLst>
          </a:prstGeom>
          <a:solidFill>
            <a:srgbClr val="FFFFFF"/>
          </a:solidFill>
          <a:ln w="12700">
            <a:solidFill>
              <a:srgbClr val="E4DDF5"/>
            </a:solidFill>
            <a:prstDash val="solid"/>
          </a:ln>
        </p:spPr>
      </p:sp>
      <p:sp>
        <p:nvSpPr>
          <p:cNvPr id="23" name="Text 21"/>
          <p:cNvSpPr/>
          <p:nvPr/>
        </p:nvSpPr>
        <p:spPr>
          <a:xfrm>
            <a:off x="3383280" y="3493008"/>
            <a:ext cx="2624328" cy="548640"/>
          </a:xfrm>
          <a:prstGeom prst="rect">
            <a:avLst/>
          </a:prstGeom>
          <a:noFill/>
          <a:ln/>
        </p:spPr>
        <p:txBody>
          <a:bodyPr wrap="square" lIns="0" tIns="0" rIns="0" bIns="0" rtlCol="0" anchor="ctr"/>
          <a:lstStyle/>
          <a:p>
            <a:pPr algn="ctr" indent="0" marL="0">
              <a:buNone/>
            </a:pPr>
            <a:r>
              <a:rPr lang="en-US" sz="1050" dirty="0">
                <a:solidFill>
                  <a:srgbClr val="6B6280"/>
                </a:solidFill>
                <a:latin typeface="Calibri" pitchFamily="34" charset="0"/>
                <a:ea typeface="Calibri" pitchFamily="34" charset="-122"/>
                <a:cs typeface="Calibri" pitchFamily="34" charset="-120"/>
              </a:rPr>
              <a:t>xong trong nội bộ ví</a:t>
            </a:r>
            <a:endParaRPr lang="en-US" sz="1050" dirty="0"/>
          </a:p>
        </p:txBody>
      </p:sp>
      <p:sp>
        <p:nvSpPr>
          <p:cNvPr id="24" name="Shape 22"/>
          <p:cNvSpPr/>
          <p:nvPr/>
        </p:nvSpPr>
        <p:spPr>
          <a:xfrm>
            <a:off x="6117336" y="3493008"/>
            <a:ext cx="2624328" cy="548640"/>
          </a:xfrm>
          <a:prstGeom prst="roundRect">
            <a:avLst>
              <a:gd name="adj" fmla="val 8333"/>
            </a:avLst>
          </a:prstGeom>
          <a:solidFill>
            <a:srgbClr val="EDE4FB"/>
          </a:solidFill>
          <a:ln w="12700">
            <a:solidFill>
              <a:srgbClr val="A78BFA"/>
            </a:solidFill>
            <a:prstDash val="solid"/>
          </a:ln>
        </p:spPr>
      </p:sp>
      <p:sp>
        <p:nvSpPr>
          <p:cNvPr id="25" name="Text 23"/>
          <p:cNvSpPr/>
          <p:nvPr/>
        </p:nvSpPr>
        <p:spPr>
          <a:xfrm>
            <a:off x="6117336" y="3493008"/>
            <a:ext cx="2624328" cy="548640"/>
          </a:xfrm>
          <a:prstGeom prst="rect">
            <a:avLst/>
          </a:prstGeom>
          <a:noFill/>
          <a:ln/>
        </p:spPr>
        <p:txBody>
          <a:bodyPr wrap="square" lIns="0" tIns="0" rIns="0" bIns="0" rtlCol="0" anchor="ctr"/>
          <a:lstStyle/>
          <a:p>
            <a:pPr algn="ctr" indent="0" marL="0">
              <a:buNone/>
            </a:pPr>
            <a:r>
              <a:rPr lang="en-US" sz="1050" dirty="0">
                <a:solidFill>
                  <a:srgbClr val="5B21B6"/>
                </a:solidFill>
                <a:latin typeface="Calibri" pitchFamily="34" charset="0"/>
                <a:ea typeface="Calibri" pitchFamily="34" charset="-122"/>
                <a:cs typeface="Calibri" pitchFamily="34" charset="-120"/>
              </a:rPr>
              <a:t>chờ ngân hàng đối tác</a:t>
            </a:r>
            <a:endParaRPr lang="en-US" sz="1050" dirty="0"/>
          </a:p>
        </p:txBody>
      </p:sp>
      <p:sp>
        <p:nvSpPr>
          <p:cNvPr id="26" name="Shape 24"/>
          <p:cNvSpPr/>
          <p:nvPr/>
        </p:nvSpPr>
        <p:spPr>
          <a:xfrm>
            <a:off x="8851392" y="3493008"/>
            <a:ext cx="2624328" cy="548640"/>
          </a:xfrm>
          <a:prstGeom prst="roundRect">
            <a:avLst>
              <a:gd name="adj" fmla="val 8333"/>
            </a:avLst>
          </a:prstGeom>
          <a:solidFill>
            <a:srgbClr val="EDE4FB"/>
          </a:solidFill>
          <a:ln w="12700">
            <a:solidFill>
              <a:srgbClr val="A78BFA"/>
            </a:solidFill>
            <a:prstDash val="solid"/>
          </a:ln>
        </p:spPr>
      </p:sp>
      <p:sp>
        <p:nvSpPr>
          <p:cNvPr id="27" name="Text 25"/>
          <p:cNvSpPr/>
          <p:nvPr/>
        </p:nvSpPr>
        <p:spPr>
          <a:xfrm>
            <a:off x="8851392" y="3493008"/>
            <a:ext cx="2624328" cy="548640"/>
          </a:xfrm>
          <a:prstGeom prst="rect">
            <a:avLst/>
          </a:prstGeom>
          <a:noFill/>
          <a:ln/>
        </p:spPr>
        <p:txBody>
          <a:bodyPr wrap="square" lIns="0" tIns="0" rIns="0" bIns="0" rtlCol="0" anchor="ctr"/>
          <a:lstStyle/>
          <a:p>
            <a:pPr algn="ctr" indent="0" marL="0">
              <a:buNone/>
            </a:pPr>
            <a:r>
              <a:rPr lang="en-US" sz="1050" dirty="0">
                <a:solidFill>
                  <a:srgbClr val="5B21B6"/>
                </a:solidFill>
                <a:latin typeface="Calibri" pitchFamily="34" charset="0"/>
                <a:ea typeface="Calibri" pitchFamily="34" charset="-122"/>
                <a:cs typeface="Calibri" pitchFamily="34" charset="-120"/>
              </a:rPr>
              <a:t>chờ ngân hàng đối tác</a:t>
            </a:r>
            <a:endParaRPr lang="en-US" sz="1050" dirty="0"/>
          </a:p>
        </p:txBody>
      </p:sp>
      <p:sp>
        <p:nvSpPr>
          <p:cNvPr id="28" name="Text 26"/>
          <p:cNvSpPr/>
          <p:nvPr/>
        </p:nvSpPr>
        <p:spPr>
          <a:xfrm>
            <a:off x="640080" y="4133088"/>
            <a:ext cx="2606040" cy="548640"/>
          </a:xfrm>
          <a:prstGeom prst="rect">
            <a:avLst/>
          </a:prstGeom>
          <a:noFill/>
          <a:ln/>
        </p:spPr>
        <p:txBody>
          <a:bodyPr wrap="square" lIns="0" tIns="0" rIns="0" bIns="0" rtlCol="0" anchor="ctr"/>
          <a:lstStyle/>
          <a:p>
            <a:pPr algn="r" indent="0" marL="0">
              <a:buNone/>
            </a:pPr>
            <a:r>
              <a:rPr lang="en-US" sz="1350" b="1" dirty="0">
                <a:solidFill>
                  <a:srgbClr val="1A1035"/>
                </a:solidFill>
                <a:latin typeface="Calibri" pitchFamily="34" charset="0"/>
                <a:ea typeface="Calibri" pitchFamily="34" charset="-122"/>
                <a:cs typeface="Calibri" pitchFamily="34" charset="-120"/>
              </a:rPr>
              <a:t>Đòi hoàn tiền</a:t>
            </a:r>
            <a:endParaRPr lang="en-US" sz="1350" dirty="0"/>
          </a:p>
        </p:txBody>
      </p:sp>
      <p:sp>
        <p:nvSpPr>
          <p:cNvPr id="29" name="Shape 27"/>
          <p:cNvSpPr/>
          <p:nvPr/>
        </p:nvSpPr>
        <p:spPr>
          <a:xfrm>
            <a:off x="3383280" y="4133088"/>
            <a:ext cx="2624328" cy="548640"/>
          </a:xfrm>
          <a:prstGeom prst="roundRect">
            <a:avLst>
              <a:gd name="adj" fmla="val 8333"/>
            </a:avLst>
          </a:prstGeom>
          <a:solidFill>
            <a:srgbClr val="FFFFFF"/>
          </a:solidFill>
          <a:ln w="12700">
            <a:solidFill>
              <a:srgbClr val="E4DDF5"/>
            </a:solidFill>
            <a:prstDash val="solid"/>
          </a:ln>
        </p:spPr>
      </p:sp>
      <p:sp>
        <p:nvSpPr>
          <p:cNvPr id="30" name="Text 28"/>
          <p:cNvSpPr/>
          <p:nvPr/>
        </p:nvSpPr>
        <p:spPr>
          <a:xfrm>
            <a:off x="3383280" y="4133088"/>
            <a:ext cx="2624328" cy="548640"/>
          </a:xfrm>
          <a:prstGeom prst="rect">
            <a:avLst/>
          </a:prstGeom>
          <a:noFill/>
          <a:ln/>
        </p:spPr>
        <p:txBody>
          <a:bodyPr wrap="square" lIns="0" tIns="0" rIns="0" bIns="0" rtlCol="0" anchor="ctr"/>
          <a:lstStyle/>
          <a:p>
            <a:pPr algn="ctr" indent="0" marL="0">
              <a:buNone/>
            </a:pPr>
            <a:r>
              <a:rPr lang="en-US" sz="1050" dirty="0">
                <a:solidFill>
                  <a:srgbClr val="6B6280"/>
                </a:solidFill>
                <a:latin typeface="Calibri" pitchFamily="34" charset="0"/>
                <a:ea typeface="Calibri" pitchFamily="34" charset="-122"/>
                <a:cs typeface="Calibri" pitchFamily="34" charset="-120"/>
              </a:rPr>
              <a:t>xong trong nội bộ ví</a:t>
            </a:r>
            <a:endParaRPr lang="en-US" sz="1050" dirty="0"/>
          </a:p>
        </p:txBody>
      </p:sp>
      <p:sp>
        <p:nvSpPr>
          <p:cNvPr id="31" name="Shape 29"/>
          <p:cNvSpPr/>
          <p:nvPr/>
        </p:nvSpPr>
        <p:spPr>
          <a:xfrm>
            <a:off x="6117336" y="4133088"/>
            <a:ext cx="2624328" cy="548640"/>
          </a:xfrm>
          <a:prstGeom prst="roundRect">
            <a:avLst>
              <a:gd name="adj" fmla="val 8333"/>
            </a:avLst>
          </a:prstGeom>
          <a:solidFill>
            <a:srgbClr val="EDE4FB"/>
          </a:solidFill>
          <a:ln w="12700">
            <a:solidFill>
              <a:srgbClr val="A78BFA"/>
            </a:solidFill>
            <a:prstDash val="solid"/>
          </a:ln>
        </p:spPr>
      </p:sp>
      <p:sp>
        <p:nvSpPr>
          <p:cNvPr id="32" name="Text 30"/>
          <p:cNvSpPr/>
          <p:nvPr/>
        </p:nvSpPr>
        <p:spPr>
          <a:xfrm>
            <a:off x="6117336" y="4133088"/>
            <a:ext cx="2624328" cy="548640"/>
          </a:xfrm>
          <a:prstGeom prst="rect">
            <a:avLst/>
          </a:prstGeom>
          <a:noFill/>
          <a:ln/>
        </p:spPr>
        <p:txBody>
          <a:bodyPr wrap="square" lIns="0" tIns="0" rIns="0" bIns="0" rtlCol="0" anchor="ctr"/>
          <a:lstStyle/>
          <a:p>
            <a:pPr algn="ctr" indent="0" marL="0">
              <a:buNone/>
            </a:pPr>
            <a:r>
              <a:rPr lang="en-US" sz="1050" dirty="0">
                <a:solidFill>
                  <a:srgbClr val="5B21B6"/>
                </a:solidFill>
                <a:latin typeface="Calibri" pitchFamily="34" charset="0"/>
                <a:ea typeface="Calibri" pitchFamily="34" charset="-122"/>
                <a:cs typeface="Calibri" pitchFamily="34" charset="-120"/>
              </a:rPr>
              <a:t>chờ ngân hàng đối tác</a:t>
            </a:r>
            <a:endParaRPr lang="en-US" sz="1050" dirty="0"/>
          </a:p>
        </p:txBody>
      </p:sp>
      <p:sp>
        <p:nvSpPr>
          <p:cNvPr id="33" name="Shape 31"/>
          <p:cNvSpPr/>
          <p:nvPr/>
        </p:nvSpPr>
        <p:spPr>
          <a:xfrm>
            <a:off x="8851392" y="4133088"/>
            <a:ext cx="2624328" cy="548640"/>
          </a:xfrm>
          <a:prstGeom prst="roundRect">
            <a:avLst>
              <a:gd name="adj" fmla="val 8333"/>
            </a:avLst>
          </a:prstGeom>
          <a:solidFill>
            <a:srgbClr val="EDE4FB"/>
          </a:solidFill>
          <a:ln w="12700">
            <a:solidFill>
              <a:srgbClr val="A78BFA"/>
            </a:solidFill>
            <a:prstDash val="solid"/>
          </a:ln>
        </p:spPr>
      </p:sp>
      <p:sp>
        <p:nvSpPr>
          <p:cNvPr id="34" name="Text 32"/>
          <p:cNvSpPr/>
          <p:nvPr/>
        </p:nvSpPr>
        <p:spPr>
          <a:xfrm>
            <a:off x="8851392" y="4133088"/>
            <a:ext cx="2624328" cy="548640"/>
          </a:xfrm>
          <a:prstGeom prst="rect">
            <a:avLst/>
          </a:prstGeom>
          <a:noFill/>
          <a:ln/>
        </p:spPr>
        <p:txBody>
          <a:bodyPr wrap="square" lIns="0" tIns="0" rIns="0" bIns="0" rtlCol="0" anchor="ctr"/>
          <a:lstStyle/>
          <a:p>
            <a:pPr algn="ctr" indent="0" marL="0">
              <a:buNone/>
            </a:pPr>
            <a:r>
              <a:rPr lang="en-US" sz="1050" dirty="0">
                <a:solidFill>
                  <a:srgbClr val="5B21B6"/>
                </a:solidFill>
                <a:latin typeface="Calibri" pitchFamily="34" charset="0"/>
                <a:ea typeface="Calibri" pitchFamily="34" charset="-122"/>
                <a:cs typeface="Calibri" pitchFamily="34" charset="-120"/>
              </a:rPr>
              <a:t>chờ ngân hàng đối tác</a:t>
            </a:r>
            <a:endParaRPr lang="en-US" sz="1050" dirty="0"/>
          </a:p>
        </p:txBody>
      </p:sp>
      <p:sp>
        <p:nvSpPr>
          <p:cNvPr id="35" name="Text 33"/>
          <p:cNvSpPr/>
          <p:nvPr/>
        </p:nvSpPr>
        <p:spPr>
          <a:xfrm>
            <a:off x="640080" y="4754880"/>
            <a:ext cx="10881360" cy="502920"/>
          </a:xfrm>
          <a:prstGeom prst="rect">
            <a:avLst/>
          </a:prstGeom>
          <a:noFill/>
          <a:ln/>
        </p:spPr>
        <p:txBody>
          <a:bodyPr wrap="square" lIns="0" tIns="0" rIns="0" bIns="0" rtlCol="0" anchor="ctr"/>
          <a:lstStyle/>
          <a:p>
            <a:pPr indent="0" marL="0">
              <a:buNone/>
            </a:pPr>
            <a:r>
              <a:rPr lang="en-US" sz="2730" b="1" spc="-50" kern="0" dirty="0">
                <a:solidFill>
                  <a:srgbClr val="1A1035"/>
                </a:solidFill>
                <a:latin typeface="Calibri" pitchFamily="34" charset="0"/>
                <a:ea typeface="Calibri" pitchFamily="34" charset="-122"/>
                <a:cs typeface="Calibri" pitchFamily="34" charset="-120"/>
              </a:rPr>
              <a:t>Mười hai ô. Sen làm được cả mười hai.</a:t>
            </a:r>
            <a:endParaRPr lang="en-US" sz="2730" dirty="0"/>
          </a:p>
        </p:txBody>
      </p:sp>
      <p:sp>
        <p:nvSpPr>
          <p:cNvPr id="36" name="Text 34"/>
          <p:cNvSpPr/>
          <p:nvPr/>
        </p:nvSpPr>
        <p:spPr>
          <a:xfrm>
            <a:off x="640080" y="5349240"/>
            <a:ext cx="10881360" cy="502920"/>
          </a:xfrm>
          <a:prstGeom prst="rect">
            <a:avLst/>
          </a:prstGeom>
          <a:noFill/>
          <a:ln/>
        </p:spPr>
        <p:txBody>
          <a:bodyPr wrap="square" lIns="0" tIns="0" rIns="0" bIns="0" rtlCol="0" anchor="ctr"/>
          <a:lstStyle/>
          <a:p>
            <a:pPr indent="0" marL="0">
              <a:lnSpc>
                <a:spcPct val="120000"/>
              </a:lnSpc>
              <a:buNone/>
            </a:pPr>
            <a:r>
              <a:rPr lang="en-US" sz="1350" b="1" dirty="0">
                <a:solidFill>
                  <a:srgbClr val="6B6280"/>
                </a:solidFill>
                <a:latin typeface="Calibri" pitchFamily="34" charset="0"/>
                <a:ea typeface="Calibri" pitchFamily="34" charset="-122"/>
                <a:cs typeface="Calibri" pitchFamily="34" charset="-120"/>
              </a:rPr>
              <a:t>Đã có sẵn: bộ dấu hiệu đáng ngờ · phân quyền bốn vai · che thông tin người thứ ba · hạn tra soát với ngân hàng · 180 ca mẫu có sẵn đáp án để chấm điểm · 45 quyết định thiết kế có ghi chép</a:t>
            </a:r>
            <a:endParaRPr lang="en-US" sz="1350" dirty="0"/>
          </a:p>
        </p:txBody>
      </p:sp>
      <p:sp>
        <p:nvSpPr>
          <p:cNvPr id="37" name="Text 35"/>
          <p:cNvSpPr/>
          <p:nvPr/>
        </p:nvSpPr>
        <p:spPr>
          <a:xfrm>
            <a:off x="640080" y="5989320"/>
            <a:ext cx="10881360" cy="292608"/>
          </a:xfrm>
          <a:prstGeom prst="rect">
            <a:avLst/>
          </a:prstGeom>
          <a:noFill/>
          <a:ln/>
        </p:spPr>
        <p:txBody>
          <a:bodyPr wrap="square" lIns="0" tIns="0" rIns="0" bIns="0" rtlCol="0" anchor="t"/>
          <a:lstStyle/>
          <a:p>
            <a:pPr indent="0" marL="0">
              <a:buNone/>
            </a:pPr>
            <a:r>
              <a:rPr lang="en-US" sz="1000" i="1" dirty="0">
                <a:solidFill>
                  <a:srgbClr val="6B6280"/>
                </a:solidFill>
                <a:latin typeface="Calibri" pitchFamily="34" charset="0"/>
                <a:ea typeface="Calibri" pitchFamily="34" charset="-122"/>
                <a:cs typeface="Calibri" pitchFamily="34" charset="-120"/>
              </a:rPr>
              <a:t>Chi tiết nghiệp vụ thuộc về bên đặt hàng. Phần dưới chỉ nói về cách làm.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F"/>
        </a:solidFill>
      </p:bgPr>
    </p:bg>
    <p:spTree>
      <p:nvGrpSpPr>
        <p:cNvPr id="1" name=""/>
        <p:cNvGrpSpPr/>
        <p:nvPr/>
      </p:nvGrpSpPr>
      <p:grpSpPr>
        <a:xfrm>
          <a:off x="0" y="0"/>
          <a:ext cx="0" cy="0"/>
          <a:chOff x="0" y="0"/>
          <a:chExt cx="0" cy="0"/>
        </a:xfrm>
      </p:grpSpPr>
      <p:sp>
        <p:nvSpPr>
          <p:cNvPr id="2" name="Text 0"/>
          <p:cNvSpPr/>
          <p:nvPr/>
        </p:nvSpPr>
        <p:spPr>
          <a:xfrm>
            <a:off x="640080" y="438912"/>
            <a:ext cx="10881360" cy="566928"/>
          </a:xfrm>
          <a:prstGeom prst="rect">
            <a:avLst/>
          </a:prstGeom>
          <a:noFill/>
          <a:ln/>
        </p:spPr>
        <p:txBody>
          <a:bodyPr wrap="square" lIns="0" tIns="0" rIns="0" bIns="0" rtlCol="0" anchor="ctr"/>
          <a:lstStyle/>
          <a:p>
            <a:pPr indent="0" marL="0">
              <a:buNone/>
            </a:pPr>
            <a:r>
              <a:rPr lang="en-US" sz="3260" b="1" spc="-70" kern="0" dirty="0">
                <a:solidFill>
                  <a:srgbClr val="1A1035"/>
                </a:solidFill>
                <a:latin typeface="Calibri" pitchFamily="34" charset="0"/>
                <a:ea typeface="Calibri" pitchFamily="34" charset="-122"/>
                <a:cs typeface="Calibri" pitchFamily="34" charset="-120"/>
              </a:rPr>
              <a:t>Năm điều trợ lý Sen không được làm</a:t>
            </a:r>
            <a:endParaRPr lang="en-US" sz="3260" dirty="0"/>
          </a:p>
        </p:txBody>
      </p:sp>
      <p:sp>
        <p:nvSpPr>
          <p:cNvPr id="3" name="Shape 1"/>
          <p:cNvSpPr/>
          <p:nvPr/>
        </p:nvSpPr>
        <p:spPr>
          <a:xfrm>
            <a:off x="640080" y="1243584"/>
            <a:ext cx="402336" cy="402336"/>
          </a:xfrm>
          <a:prstGeom prst="ellipse">
            <a:avLst/>
          </a:prstGeom>
          <a:solidFill>
            <a:srgbClr val="6D28D9"/>
          </a:solidFill>
          <a:ln/>
        </p:spPr>
      </p:sp>
      <p:sp>
        <p:nvSpPr>
          <p:cNvPr id="4" name="Text 2"/>
          <p:cNvSpPr/>
          <p:nvPr/>
        </p:nvSpPr>
        <p:spPr>
          <a:xfrm>
            <a:off x="640080" y="124358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p:nvPr/>
        </p:nvSpPr>
        <p:spPr>
          <a:xfrm>
            <a:off x="1280160" y="1188720"/>
            <a:ext cx="10149840" cy="329184"/>
          </a:xfrm>
          <a:prstGeom prst="rect">
            <a:avLst/>
          </a:prstGeom>
          <a:noFill/>
          <a:ln/>
        </p:spPr>
        <p:txBody>
          <a:bodyPr wrap="square" lIns="0" tIns="0" rIns="0" bIns="0" rtlCol="0" anchor="ctr"/>
          <a:lstStyle/>
          <a:p>
            <a:pPr indent="0" marL="0">
              <a:buNone/>
            </a:pPr>
            <a:r>
              <a:rPr lang="en-US" sz="1750" b="1" dirty="0">
                <a:solidFill>
                  <a:srgbClr val="1A1035"/>
                </a:solidFill>
                <a:latin typeface="Calibri" pitchFamily="34" charset="0"/>
                <a:ea typeface="Calibri" pitchFamily="34" charset="-122"/>
                <a:cs typeface="Calibri" pitchFamily="34" charset="-120"/>
              </a:rPr>
              <a:t>Sen dừng lại ở đúng chỗ luật bắt nó dừng.</a:t>
            </a:r>
            <a:endParaRPr lang="en-US" sz="1750" dirty="0"/>
          </a:p>
        </p:txBody>
      </p:sp>
      <p:sp>
        <p:nvSpPr>
          <p:cNvPr id="6" name="Text 4"/>
          <p:cNvSpPr/>
          <p:nvPr/>
        </p:nvSpPr>
        <p:spPr>
          <a:xfrm>
            <a:off x="1280160" y="1527048"/>
            <a:ext cx="10149840" cy="310896"/>
          </a:xfrm>
          <a:prstGeom prst="rect">
            <a:avLst/>
          </a:prstGeom>
          <a:noFill/>
          <a:ln/>
        </p:spPr>
        <p:txBody>
          <a:bodyPr wrap="square" lIns="0" tIns="0" rIns="0" bIns="0" rtlCol="0" anchor="ctr"/>
          <a:lstStyle/>
          <a:p>
            <a:pPr indent="0" marL="0">
              <a:buNone/>
            </a:pPr>
            <a:r>
              <a:rPr lang="en-US" sz="1300" dirty="0">
                <a:solidFill>
                  <a:srgbClr val="6B6280"/>
                </a:solidFill>
                <a:latin typeface="Calibri" pitchFamily="34" charset="0"/>
                <a:ea typeface="Calibri" pitchFamily="34" charset="-122"/>
                <a:cs typeface="Calibri" pitchFamily="34" charset="-120"/>
              </a:rPr>
              <a:t>Chỉ người có quyền mới duyệt chi tiền. Không ngoại lệ, kể cả giao dịch trong ví.</a:t>
            </a:r>
            <a:endParaRPr lang="en-US" sz="1300" dirty="0"/>
          </a:p>
        </p:txBody>
      </p:sp>
      <p:sp>
        <p:nvSpPr>
          <p:cNvPr id="7" name="Shape 5"/>
          <p:cNvSpPr/>
          <p:nvPr/>
        </p:nvSpPr>
        <p:spPr>
          <a:xfrm>
            <a:off x="640080" y="2002536"/>
            <a:ext cx="402336" cy="402336"/>
          </a:xfrm>
          <a:prstGeom prst="ellipse">
            <a:avLst/>
          </a:prstGeom>
          <a:solidFill>
            <a:srgbClr val="6D28D9"/>
          </a:solidFill>
          <a:ln/>
        </p:spPr>
      </p:sp>
      <p:sp>
        <p:nvSpPr>
          <p:cNvPr id="8" name="Text 6"/>
          <p:cNvSpPr/>
          <p:nvPr/>
        </p:nvSpPr>
        <p:spPr>
          <a:xfrm>
            <a:off x="640080" y="20025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280160" y="1947672"/>
            <a:ext cx="10149840" cy="329184"/>
          </a:xfrm>
          <a:prstGeom prst="rect">
            <a:avLst/>
          </a:prstGeom>
          <a:noFill/>
          <a:ln/>
        </p:spPr>
        <p:txBody>
          <a:bodyPr wrap="square" lIns="0" tIns="0" rIns="0" bIns="0" rtlCol="0" anchor="ctr"/>
          <a:lstStyle/>
          <a:p>
            <a:pPr indent="0" marL="0">
              <a:buNone/>
            </a:pPr>
            <a:r>
              <a:rPr lang="en-US" sz="1750" b="1" dirty="0">
                <a:solidFill>
                  <a:srgbClr val="1A1035"/>
                </a:solidFill>
                <a:latin typeface="Calibri" pitchFamily="34" charset="0"/>
                <a:ea typeface="Calibri" pitchFamily="34" charset="-122"/>
                <a:cs typeface="Calibri" pitchFamily="34" charset="-120"/>
              </a:rPr>
              <a:t>Không nhảy cóc.</a:t>
            </a:r>
            <a:endParaRPr lang="en-US" sz="1750" dirty="0"/>
          </a:p>
        </p:txBody>
      </p:sp>
      <p:sp>
        <p:nvSpPr>
          <p:cNvPr id="10" name="Text 8"/>
          <p:cNvSpPr/>
          <p:nvPr/>
        </p:nvSpPr>
        <p:spPr>
          <a:xfrm>
            <a:off x="1280160" y="2286000"/>
            <a:ext cx="10149840" cy="310896"/>
          </a:xfrm>
          <a:prstGeom prst="rect">
            <a:avLst/>
          </a:prstGeom>
          <a:noFill/>
          <a:ln/>
        </p:spPr>
        <p:txBody>
          <a:bodyPr wrap="square" lIns="0" tIns="0" rIns="0" bIns="0" rtlCol="0" anchor="ctr"/>
          <a:lstStyle/>
          <a:p>
            <a:pPr indent="0" marL="0">
              <a:buNone/>
            </a:pPr>
            <a:r>
              <a:rPr lang="en-US" sz="1300" dirty="0">
                <a:solidFill>
                  <a:srgbClr val="6B6280"/>
                </a:solidFill>
                <a:latin typeface="Calibri" pitchFamily="34" charset="0"/>
                <a:ea typeface="Calibri" pitchFamily="34" charset="-122"/>
                <a:cs typeface="Calibri" pitchFamily="34" charset="-120"/>
              </a:rPr>
              <a:t>Ca nghi lừa đảo gấp vẫn phải qua nhân viên trước.</a:t>
            </a:r>
            <a:endParaRPr lang="en-US" sz="1300" dirty="0"/>
          </a:p>
        </p:txBody>
      </p:sp>
      <p:sp>
        <p:nvSpPr>
          <p:cNvPr id="11" name="Shape 9"/>
          <p:cNvSpPr/>
          <p:nvPr/>
        </p:nvSpPr>
        <p:spPr>
          <a:xfrm>
            <a:off x="640080" y="2761488"/>
            <a:ext cx="402336" cy="402336"/>
          </a:xfrm>
          <a:prstGeom prst="ellipse">
            <a:avLst/>
          </a:prstGeom>
          <a:solidFill>
            <a:srgbClr val="6D28D9"/>
          </a:solidFill>
          <a:ln/>
        </p:spPr>
      </p:sp>
      <p:sp>
        <p:nvSpPr>
          <p:cNvPr id="12" name="Text 10"/>
          <p:cNvSpPr/>
          <p:nvPr/>
        </p:nvSpPr>
        <p:spPr>
          <a:xfrm>
            <a:off x="640080" y="27614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1280160" y="2706624"/>
            <a:ext cx="10149840" cy="329184"/>
          </a:xfrm>
          <a:prstGeom prst="rect">
            <a:avLst/>
          </a:prstGeom>
          <a:noFill/>
          <a:ln/>
        </p:spPr>
        <p:txBody>
          <a:bodyPr wrap="square" lIns="0" tIns="0" rIns="0" bIns="0" rtlCol="0" anchor="ctr"/>
          <a:lstStyle/>
          <a:p>
            <a:pPr indent="0" marL="0">
              <a:buNone/>
            </a:pPr>
            <a:r>
              <a:rPr lang="en-US" sz="1750" b="1" dirty="0">
                <a:solidFill>
                  <a:srgbClr val="1A1035"/>
                </a:solidFill>
                <a:latin typeface="Calibri" pitchFamily="34" charset="0"/>
                <a:ea typeface="Calibri" pitchFamily="34" charset="-122"/>
                <a:cs typeface="Calibri" pitchFamily="34" charset="-120"/>
              </a:rPr>
              <a:t>Không nói con số nó không tra được.</a:t>
            </a:r>
            <a:endParaRPr lang="en-US" sz="1750" dirty="0"/>
          </a:p>
        </p:txBody>
      </p:sp>
      <p:sp>
        <p:nvSpPr>
          <p:cNvPr id="14" name="Text 12"/>
          <p:cNvSpPr/>
          <p:nvPr/>
        </p:nvSpPr>
        <p:spPr>
          <a:xfrm>
            <a:off x="1280160" y="3044952"/>
            <a:ext cx="10149840" cy="310896"/>
          </a:xfrm>
          <a:prstGeom prst="rect">
            <a:avLst/>
          </a:prstGeom>
          <a:noFill/>
          <a:ln/>
        </p:spPr>
        <p:txBody>
          <a:bodyPr wrap="square" lIns="0" tIns="0" rIns="0" bIns="0" rtlCol="0" anchor="ctr"/>
          <a:lstStyle/>
          <a:p>
            <a:pPr indent="0" marL="0">
              <a:buNone/>
            </a:pPr>
            <a:r>
              <a:rPr lang="en-US" sz="1300" dirty="0">
                <a:solidFill>
                  <a:srgbClr val="6B6280"/>
                </a:solidFill>
                <a:latin typeface="Calibri" pitchFamily="34" charset="0"/>
                <a:ea typeface="Calibri" pitchFamily="34" charset="-122"/>
                <a:cs typeface="Calibri" pitchFamily="34" charset="-120"/>
              </a:rPr>
              <a:t>Mỗi con số phải chỉ ra được: tôi lấy nó từ đây.</a:t>
            </a:r>
            <a:endParaRPr lang="en-US" sz="1300" dirty="0"/>
          </a:p>
        </p:txBody>
      </p:sp>
      <p:sp>
        <p:nvSpPr>
          <p:cNvPr id="15" name="Shape 13"/>
          <p:cNvSpPr/>
          <p:nvPr/>
        </p:nvSpPr>
        <p:spPr>
          <a:xfrm>
            <a:off x="640080" y="3520440"/>
            <a:ext cx="402336" cy="402336"/>
          </a:xfrm>
          <a:prstGeom prst="ellipse">
            <a:avLst/>
          </a:prstGeom>
          <a:solidFill>
            <a:srgbClr val="6D28D9"/>
          </a:solidFill>
          <a:ln/>
        </p:spPr>
      </p:sp>
      <p:sp>
        <p:nvSpPr>
          <p:cNvPr id="16" name="Text 14"/>
          <p:cNvSpPr/>
          <p:nvPr/>
        </p:nvSpPr>
        <p:spPr>
          <a:xfrm>
            <a:off x="640080" y="35204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280160" y="3465576"/>
            <a:ext cx="10149840" cy="329184"/>
          </a:xfrm>
          <a:prstGeom prst="rect">
            <a:avLst/>
          </a:prstGeom>
          <a:noFill/>
          <a:ln/>
        </p:spPr>
        <p:txBody>
          <a:bodyPr wrap="square" lIns="0" tIns="0" rIns="0" bIns="0" rtlCol="0" anchor="ctr"/>
          <a:lstStyle/>
          <a:p>
            <a:pPr indent="0" marL="0">
              <a:buNone/>
            </a:pPr>
            <a:r>
              <a:rPr lang="en-US" sz="1750" b="1" dirty="0">
                <a:solidFill>
                  <a:srgbClr val="1A1035"/>
                </a:solidFill>
                <a:latin typeface="Calibri" pitchFamily="34" charset="0"/>
                <a:ea typeface="Calibri" pitchFamily="34" charset="-122"/>
                <a:cs typeface="Calibri" pitchFamily="34" charset="-120"/>
              </a:rPr>
              <a:t>Không bao giờ hỏi mật khẩu.</a:t>
            </a:r>
            <a:endParaRPr lang="en-US" sz="1750" dirty="0"/>
          </a:p>
        </p:txBody>
      </p:sp>
      <p:sp>
        <p:nvSpPr>
          <p:cNvPr id="18" name="Text 16"/>
          <p:cNvSpPr/>
          <p:nvPr/>
        </p:nvSpPr>
        <p:spPr>
          <a:xfrm>
            <a:off x="1280160" y="3803904"/>
            <a:ext cx="10149840" cy="310896"/>
          </a:xfrm>
          <a:prstGeom prst="rect">
            <a:avLst/>
          </a:prstGeom>
          <a:noFill/>
          <a:ln/>
        </p:spPr>
        <p:txBody>
          <a:bodyPr wrap="square" lIns="0" tIns="0" rIns="0" bIns="0" rtlCol="0" anchor="ctr"/>
          <a:lstStyle/>
          <a:p>
            <a:pPr indent="0" marL="0">
              <a:buNone/>
            </a:pPr>
            <a:r>
              <a:rPr lang="en-US" sz="1300" dirty="0">
                <a:solidFill>
                  <a:srgbClr val="6B6280"/>
                </a:solidFill>
                <a:latin typeface="Calibri" pitchFamily="34" charset="0"/>
                <a:ea typeface="Calibri" pitchFamily="34" charset="-122"/>
                <a:cs typeface="Calibri" pitchFamily="34" charset="-120"/>
              </a:rPr>
              <a:t>Không dưới bất kỳ hình thức nào.</a:t>
            </a:r>
            <a:endParaRPr lang="en-US" sz="1300" dirty="0"/>
          </a:p>
        </p:txBody>
      </p:sp>
      <p:sp>
        <p:nvSpPr>
          <p:cNvPr id="19" name="Shape 17"/>
          <p:cNvSpPr/>
          <p:nvPr/>
        </p:nvSpPr>
        <p:spPr>
          <a:xfrm>
            <a:off x="640080" y="4279392"/>
            <a:ext cx="402336" cy="402336"/>
          </a:xfrm>
          <a:prstGeom prst="ellipse">
            <a:avLst/>
          </a:prstGeom>
          <a:solidFill>
            <a:srgbClr val="6D28D9"/>
          </a:solidFill>
          <a:ln/>
        </p:spPr>
      </p:sp>
      <p:sp>
        <p:nvSpPr>
          <p:cNvPr id="20" name="Text 18"/>
          <p:cNvSpPr/>
          <p:nvPr/>
        </p:nvSpPr>
        <p:spPr>
          <a:xfrm>
            <a:off x="640080" y="42793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p:nvPr/>
        </p:nvSpPr>
        <p:spPr>
          <a:xfrm>
            <a:off x="1280160" y="4224528"/>
            <a:ext cx="10149840" cy="329184"/>
          </a:xfrm>
          <a:prstGeom prst="rect">
            <a:avLst/>
          </a:prstGeom>
          <a:noFill/>
          <a:ln/>
        </p:spPr>
        <p:txBody>
          <a:bodyPr wrap="square" lIns="0" tIns="0" rIns="0" bIns="0" rtlCol="0" anchor="ctr"/>
          <a:lstStyle/>
          <a:p>
            <a:pPr indent="0" marL="0">
              <a:buNone/>
            </a:pPr>
            <a:r>
              <a:rPr lang="en-US" sz="1750" b="1" dirty="0">
                <a:solidFill>
                  <a:srgbClr val="1A1035"/>
                </a:solidFill>
                <a:latin typeface="Calibri" pitchFamily="34" charset="0"/>
                <a:ea typeface="Calibri" pitchFamily="34" charset="-122"/>
                <a:cs typeface="Calibri" pitchFamily="34" charset="-120"/>
              </a:rPr>
              <a:t>Nghi ngờ không phải là khoá ví.</a:t>
            </a:r>
            <a:endParaRPr lang="en-US" sz="1750" dirty="0"/>
          </a:p>
        </p:txBody>
      </p:sp>
      <p:sp>
        <p:nvSpPr>
          <p:cNvPr id="22" name="Text 20"/>
          <p:cNvSpPr/>
          <p:nvPr/>
        </p:nvSpPr>
        <p:spPr>
          <a:xfrm>
            <a:off x="1280160" y="4562856"/>
            <a:ext cx="10149840" cy="310896"/>
          </a:xfrm>
          <a:prstGeom prst="rect">
            <a:avLst/>
          </a:prstGeom>
          <a:noFill/>
          <a:ln/>
        </p:spPr>
        <p:txBody>
          <a:bodyPr wrap="square" lIns="0" tIns="0" rIns="0" bIns="0" rtlCol="0" anchor="ctr"/>
          <a:lstStyle/>
          <a:p>
            <a:pPr indent="0" marL="0">
              <a:buNone/>
            </a:pPr>
            <a:r>
              <a:rPr lang="en-US" sz="1300" dirty="0">
                <a:solidFill>
                  <a:srgbClr val="6B6280"/>
                </a:solidFill>
                <a:latin typeface="Calibri" pitchFamily="34" charset="0"/>
                <a:ea typeface="Calibri" pitchFamily="34" charset="-122"/>
                <a:cs typeface="Calibri" pitchFamily="34" charset="-120"/>
              </a:rPr>
              <a:t>Nghi sai mà khoá là cướp tiền của người ngay.</a:t>
            </a:r>
            <a:endParaRPr lang="en-US" sz="1300" dirty="0"/>
          </a:p>
        </p:txBody>
      </p:sp>
      <p:sp>
        <p:nvSpPr>
          <p:cNvPr id="23" name="Shape 21"/>
          <p:cNvSpPr/>
          <p:nvPr/>
        </p:nvSpPr>
        <p:spPr>
          <a:xfrm>
            <a:off x="640080" y="5029200"/>
            <a:ext cx="10881360" cy="1325880"/>
          </a:xfrm>
          <a:prstGeom prst="roundRect">
            <a:avLst>
              <a:gd name="adj" fmla="val 5517"/>
            </a:avLst>
          </a:prstGeom>
          <a:solidFill>
            <a:srgbClr val="1A1035"/>
          </a:solidFill>
          <a:ln/>
        </p:spPr>
      </p:sp>
      <p:sp>
        <p:nvSpPr>
          <p:cNvPr id="24" name="Text 22"/>
          <p:cNvSpPr/>
          <p:nvPr/>
        </p:nvSpPr>
        <p:spPr>
          <a:xfrm>
            <a:off x="1051560" y="5166360"/>
            <a:ext cx="10058400" cy="365760"/>
          </a:xfrm>
          <a:prstGeom prst="rect">
            <a:avLst/>
          </a:prstGeom>
          <a:noFill/>
          <a:ln/>
        </p:spPr>
        <p:txBody>
          <a:bodyPr wrap="square" lIns="0" tIns="0" rIns="0" bIns="0" rtlCol="0" anchor="ctr"/>
          <a:lstStyle/>
          <a:p>
            <a:pPr indent="0" marL="0">
              <a:buNone/>
            </a:pPr>
            <a:r>
              <a:rPr lang="en-US" sz="1500" dirty="0">
                <a:solidFill>
                  <a:srgbClr val="C3B6E0"/>
                </a:solidFill>
                <a:latin typeface="Calibri" pitchFamily="34" charset="0"/>
                <a:ea typeface="Calibri" pitchFamily="34" charset="-122"/>
                <a:cs typeface="Calibri" pitchFamily="34" charset="-120"/>
              </a:rPr>
              <a:t>Ai cũng viết được năm dòng này vào tài liệu. Vấn đề là hôm sau có ai làm theo không.</a:t>
            </a:r>
            <a:endParaRPr lang="en-US" sz="1500" dirty="0"/>
          </a:p>
        </p:txBody>
      </p:sp>
      <p:sp>
        <p:nvSpPr>
          <p:cNvPr id="25" name="Text 23"/>
          <p:cNvSpPr/>
          <p:nvPr/>
        </p:nvSpPr>
        <p:spPr>
          <a:xfrm>
            <a:off x="1051560" y="5532120"/>
            <a:ext cx="10058400" cy="685800"/>
          </a:xfrm>
          <a:prstGeom prst="rect">
            <a:avLst/>
          </a:prstGeom>
          <a:noFill/>
          <a:ln/>
        </p:spPr>
        <p:txBody>
          <a:bodyPr wrap="square" lIns="0" tIns="0" rIns="0" bIns="0" rtlCol="0" anchor="ctr"/>
          <a:lstStyle/>
          <a:p>
            <a:pPr indent="0" marL="0">
              <a:lnSpc>
                <a:spcPct val="120000"/>
              </a:lnSpc>
              <a:buNone/>
            </a:pPr>
            <a:r>
              <a:rPr lang="en-US" sz="1500" b="1" dirty="0">
                <a:solidFill>
                  <a:srgbClr val="FFFFFF"/>
                </a:solidFill>
                <a:latin typeface="Calibri" pitchFamily="34" charset="0"/>
                <a:ea typeface="Calibri" pitchFamily="34" charset="-122"/>
                <a:cs typeface="Calibri" pitchFamily="34" charset="-120"/>
              </a:rPr>
              <a:t>Nên chúng được khoá thẳng vào kho dữ liệu — bấm là không được, chứ không phải là quy định.</a:t>
            </a:r>
            <a:endParaRPr lang="en-US" sz="1500" dirty="0"/>
          </a:p>
          <a:p>
            <a:pPr indent="0" marL="0">
              <a:lnSpc>
                <a:spcPct val="120000"/>
              </a:lnSpc>
              <a:buNone/>
            </a:pPr>
            <a:r>
              <a:rPr lang="en-US" sz="1500" b="1" dirty="0">
                <a:solidFill>
                  <a:srgbClr val="FFFFFF"/>
                </a:solidFill>
                <a:latin typeface="Calibri" pitchFamily="34" charset="0"/>
                <a:ea typeface="Calibri" pitchFamily="34" charset="-122"/>
                <a:cs typeface="Calibri" pitchFamily="34" charset="-120"/>
              </a:rPr>
              <a:t>Cộng thêm 23 bài kiểm tra tự chạy mỗi lần ai sửa gì. Lệch một chút là báo đỏ ngay.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F"/>
        </a:solidFill>
      </p:bgPr>
    </p:bg>
    <p:spTree>
      <p:nvGrpSpPr>
        <p:cNvPr id="1" name=""/>
        <p:cNvGrpSpPr/>
        <p:nvPr/>
      </p:nvGrpSpPr>
      <p:grpSpPr>
        <a:xfrm>
          <a:off x="0" y="0"/>
          <a:ext cx="0" cy="0"/>
          <a:chOff x="0" y="0"/>
          <a:chExt cx="0" cy="0"/>
        </a:xfrm>
      </p:grpSpPr>
      <p:sp>
        <p:nvSpPr>
          <p:cNvPr id="2" name="Text 0"/>
          <p:cNvSpPr/>
          <p:nvPr/>
        </p:nvSpPr>
        <p:spPr>
          <a:xfrm>
            <a:off x="640080" y="438912"/>
            <a:ext cx="10881360" cy="566928"/>
          </a:xfrm>
          <a:prstGeom prst="rect">
            <a:avLst/>
          </a:prstGeom>
          <a:noFill/>
          <a:ln/>
        </p:spPr>
        <p:txBody>
          <a:bodyPr wrap="square" lIns="0" tIns="0" rIns="0" bIns="0" rtlCol="0" anchor="ctr"/>
          <a:lstStyle/>
          <a:p>
            <a:pPr indent="0" marL="0">
              <a:buNone/>
            </a:pPr>
            <a:r>
              <a:rPr lang="en-US" sz="3260" b="1" spc="-70" kern="0" dirty="0">
                <a:solidFill>
                  <a:srgbClr val="1A1035"/>
                </a:solidFill>
                <a:latin typeface="Calibri" pitchFamily="34" charset="0"/>
                <a:ea typeface="Calibri" pitchFamily="34" charset="-122"/>
                <a:cs typeface="Calibri" pitchFamily="34" charset="-120"/>
              </a:rPr>
              <a:t>Trợ lý Sen tự nói ra khi nó không chắc</a:t>
            </a:r>
            <a:endParaRPr lang="en-US" sz="3260" dirty="0"/>
          </a:p>
        </p:txBody>
      </p:sp>
      <p:sp>
        <p:nvSpPr>
          <p:cNvPr id="3" name="Text 1"/>
          <p:cNvSpPr/>
          <p:nvPr/>
        </p:nvSpPr>
        <p:spPr>
          <a:xfrm>
            <a:off x="640080" y="1024128"/>
            <a:ext cx="10881360" cy="320040"/>
          </a:xfrm>
          <a:prstGeom prst="rect">
            <a:avLst/>
          </a:prstGeom>
          <a:noFill/>
          <a:ln/>
        </p:spPr>
        <p:txBody>
          <a:bodyPr wrap="square" lIns="0" tIns="0" rIns="0" bIns="0" rtlCol="0" anchor="ctr"/>
          <a:lstStyle/>
          <a:p>
            <a:pPr indent="0" marL="0">
              <a:buNone/>
            </a:pPr>
            <a:r>
              <a:rPr lang="en-US" sz="1500" dirty="0">
                <a:solidFill>
                  <a:srgbClr val="6B6280"/>
                </a:solidFill>
                <a:latin typeface="Calibri" pitchFamily="34" charset="0"/>
                <a:ea typeface="Calibri" pitchFamily="34" charset="-122"/>
                <a:cs typeface="Calibri" pitchFamily="34" charset="-120"/>
              </a:rPr>
              <a:t>Ba câu lấy nguyên văn từ hệ thống:</a:t>
            </a:r>
            <a:endParaRPr lang="en-US" sz="1500" dirty="0"/>
          </a:p>
        </p:txBody>
      </p:sp>
      <p:sp>
        <p:nvSpPr>
          <p:cNvPr id="4" name="Shape 2"/>
          <p:cNvSpPr/>
          <p:nvPr/>
        </p:nvSpPr>
        <p:spPr>
          <a:xfrm>
            <a:off x="640080" y="1463040"/>
            <a:ext cx="10881360" cy="822960"/>
          </a:xfrm>
          <a:prstGeom prst="roundRect">
            <a:avLst>
              <a:gd name="adj" fmla="val 8889"/>
            </a:avLst>
          </a:prstGeom>
          <a:solidFill>
            <a:srgbClr val="FFFFFF"/>
          </a:solidFill>
          <a:ln w="12700">
            <a:solidFill>
              <a:srgbClr val="E4DDF5"/>
            </a:solidFill>
            <a:prstDash val="solid"/>
          </a:ln>
        </p:spPr>
      </p:sp>
      <p:sp>
        <p:nvSpPr>
          <p:cNvPr id="5" name="Text 3"/>
          <p:cNvSpPr/>
          <p:nvPr/>
        </p:nvSpPr>
        <p:spPr>
          <a:xfrm>
            <a:off x="1051560" y="1463040"/>
            <a:ext cx="7863840" cy="822960"/>
          </a:xfrm>
          <a:prstGeom prst="rect">
            <a:avLst/>
          </a:prstGeom>
          <a:noFill/>
          <a:ln/>
        </p:spPr>
        <p:txBody>
          <a:bodyPr wrap="square" lIns="0" tIns="0" rIns="0" bIns="0" rtlCol="0" anchor="ctr"/>
          <a:lstStyle/>
          <a:p>
            <a:pPr indent="0" marL="0">
              <a:buNone/>
            </a:pPr>
            <a:r>
              <a:rPr lang="en-US" sz="1750" b="1" i="1" dirty="0">
                <a:solidFill>
                  <a:srgbClr val="1A1035"/>
                </a:solidFill>
                <a:latin typeface="Calibri" pitchFamily="34" charset="0"/>
                <a:ea typeface="Calibri" pitchFamily="34" charset="-122"/>
                <a:cs typeface="Calibri" pitchFamily="34" charset="-120"/>
              </a:rPr>
              <a:t>“Cái này ngoài phạm vi tôi tra được. Tôi không tra ra, và tôi không đoán.”</a:t>
            </a:r>
            <a:endParaRPr lang="en-US" sz="1750" dirty="0"/>
          </a:p>
        </p:txBody>
      </p:sp>
      <p:sp>
        <p:nvSpPr>
          <p:cNvPr id="6" name="Shape 4"/>
          <p:cNvSpPr/>
          <p:nvPr/>
        </p:nvSpPr>
        <p:spPr>
          <a:xfrm>
            <a:off x="640080" y="2423160"/>
            <a:ext cx="10881360" cy="822960"/>
          </a:xfrm>
          <a:prstGeom prst="roundRect">
            <a:avLst>
              <a:gd name="adj" fmla="val 8889"/>
            </a:avLst>
          </a:prstGeom>
          <a:solidFill>
            <a:srgbClr val="FFFFFF"/>
          </a:solidFill>
          <a:ln w="12700">
            <a:solidFill>
              <a:srgbClr val="E4DDF5"/>
            </a:solidFill>
            <a:prstDash val="solid"/>
          </a:ln>
        </p:spPr>
      </p:sp>
      <p:sp>
        <p:nvSpPr>
          <p:cNvPr id="7" name="Text 5"/>
          <p:cNvSpPr/>
          <p:nvPr/>
        </p:nvSpPr>
        <p:spPr>
          <a:xfrm>
            <a:off x="1051560" y="2423160"/>
            <a:ext cx="7863840" cy="822960"/>
          </a:xfrm>
          <a:prstGeom prst="rect">
            <a:avLst/>
          </a:prstGeom>
          <a:noFill/>
          <a:ln/>
        </p:spPr>
        <p:txBody>
          <a:bodyPr wrap="square" lIns="0" tIns="0" rIns="0" bIns="0" rtlCol="0" anchor="ctr"/>
          <a:lstStyle/>
          <a:p>
            <a:pPr indent="0" marL="0">
              <a:buNone/>
            </a:pPr>
            <a:r>
              <a:rPr lang="en-US" sz="1750" b="1" i="1" dirty="0">
                <a:solidFill>
                  <a:srgbClr val="1A1035"/>
                </a:solidFill>
                <a:latin typeface="Calibri" pitchFamily="34" charset="0"/>
                <a:ea typeface="Calibri" pitchFamily="34" charset="-122"/>
                <a:cs typeface="Calibri" pitchFamily="34" charset="-120"/>
              </a:rPr>
              <a:t>“Không có cách nào để tự duyệt hoàn tiền.”</a:t>
            </a:r>
            <a:endParaRPr lang="en-US" sz="1750" dirty="0"/>
          </a:p>
        </p:txBody>
      </p:sp>
      <p:sp>
        <p:nvSpPr>
          <p:cNvPr id="8" name="Text 6"/>
          <p:cNvSpPr/>
          <p:nvPr/>
        </p:nvSpPr>
        <p:spPr>
          <a:xfrm>
            <a:off x="8595360" y="2423160"/>
            <a:ext cx="2926080" cy="822960"/>
          </a:xfrm>
          <a:prstGeom prst="rect">
            <a:avLst/>
          </a:prstGeom>
          <a:noFill/>
          <a:ln/>
        </p:spPr>
        <p:txBody>
          <a:bodyPr wrap="square" lIns="0" tIns="0" rIns="0" bIns="0" rtlCol="0" anchor="ctr"/>
          <a:lstStyle/>
          <a:p>
            <a:pPr indent="0" marL="0">
              <a:buNone/>
            </a:pPr>
            <a:r>
              <a:rPr lang="en-US" sz="1200" i="1" dirty="0">
                <a:solidFill>
                  <a:srgbClr val="6B6280"/>
                </a:solidFill>
                <a:latin typeface="Calibri" pitchFamily="34" charset="0"/>
                <a:ea typeface="Calibri" pitchFamily="34" charset="-122"/>
                <a:cs typeface="Calibri" pitchFamily="34" charset="-120"/>
              </a:rPr>
              <a:t>in ngay trên màn hình nhân viên</a:t>
            </a:r>
            <a:endParaRPr lang="en-US" sz="1200" dirty="0"/>
          </a:p>
        </p:txBody>
      </p:sp>
      <p:sp>
        <p:nvSpPr>
          <p:cNvPr id="9" name="Text 7"/>
          <p:cNvSpPr/>
          <p:nvPr/>
        </p:nvSpPr>
        <p:spPr>
          <a:xfrm>
            <a:off x="640080" y="3429000"/>
            <a:ext cx="10881360" cy="320040"/>
          </a:xfrm>
          <a:prstGeom prst="rect">
            <a:avLst/>
          </a:prstGeom>
          <a:noFill/>
          <a:ln/>
        </p:spPr>
        <p:txBody>
          <a:bodyPr wrap="square" lIns="0" tIns="0" rIns="0" bIns="0" rtlCol="0" anchor="ctr"/>
          <a:lstStyle/>
          <a:p>
            <a:pPr indent="0" marL="0">
              <a:buNone/>
            </a:pPr>
            <a:r>
              <a:rPr lang="en-US" sz="1500" dirty="0">
                <a:solidFill>
                  <a:srgbClr val="6B6280"/>
                </a:solidFill>
                <a:latin typeface="Calibri" pitchFamily="34" charset="0"/>
                <a:ea typeface="Calibri" pitchFamily="34" charset="-122"/>
                <a:cs typeface="Calibri" pitchFamily="34" charset="-120"/>
              </a:rPr>
              <a:t>Và một dòng hiện cho người sắp bấm duyệt tiền đọc:</a:t>
            </a:r>
            <a:endParaRPr lang="en-US" sz="1500" dirty="0"/>
          </a:p>
        </p:txBody>
      </p:sp>
      <p:sp>
        <p:nvSpPr>
          <p:cNvPr id="10" name="Shape 8"/>
          <p:cNvSpPr/>
          <p:nvPr/>
        </p:nvSpPr>
        <p:spPr>
          <a:xfrm>
            <a:off x="640080" y="3794760"/>
            <a:ext cx="10881360" cy="1508760"/>
          </a:xfrm>
          <a:prstGeom prst="roundRect">
            <a:avLst>
              <a:gd name="adj" fmla="val 4848"/>
            </a:avLst>
          </a:prstGeom>
          <a:solidFill>
            <a:srgbClr val="F0EAFB"/>
          </a:solidFill>
          <a:ln w="19050">
            <a:solidFill>
              <a:srgbClr val="D97706"/>
            </a:solidFill>
            <a:prstDash val="solid"/>
          </a:ln>
        </p:spPr>
      </p:sp>
      <p:sp>
        <p:nvSpPr>
          <p:cNvPr id="11" name="Text 9"/>
          <p:cNvSpPr/>
          <p:nvPr/>
        </p:nvSpPr>
        <p:spPr>
          <a:xfrm>
            <a:off x="1097280" y="3977640"/>
            <a:ext cx="10058400" cy="640080"/>
          </a:xfrm>
          <a:prstGeom prst="rect">
            <a:avLst/>
          </a:prstGeom>
          <a:noFill/>
          <a:ln/>
        </p:spPr>
        <p:txBody>
          <a:bodyPr wrap="square" lIns="0" tIns="0" rIns="0" bIns="0" rtlCol="0" anchor="ctr"/>
          <a:lstStyle/>
          <a:p>
            <a:pPr indent="0" marL="0">
              <a:lnSpc>
                <a:spcPct val="120000"/>
              </a:lnSpc>
              <a:buNone/>
            </a:pPr>
            <a:r>
              <a:rPr lang="en-US" sz="1500" dirty="0">
                <a:solidFill>
                  <a:srgbClr val="1A1035"/>
                </a:solidFill>
                <a:latin typeface="Calibri" pitchFamily="34" charset="0"/>
                <a:ea typeface="Calibri" pitchFamily="34" charset="-122"/>
                <a:cs typeface="Calibri" pitchFamily="34" charset="-120"/>
              </a:rPr>
              <a:t>“Dòng này ghi từ hồi hệ thống chưa bắt buộc ghi lý do từ chối. Người từ chối là tài khoản máy, không phải người nào cả. Thời điểm là suy ra.</a:t>
            </a:r>
            <a:endParaRPr lang="en-US" sz="1500" dirty="0"/>
          </a:p>
        </p:txBody>
      </p:sp>
      <p:sp>
        <p:nvSpPr>
          <p:cNvPr id="12" name="Text 10"/>
          <p:cNvSpPr/>
          <p:nvPr/>
        </p:nvSpPr>
        <p:spPr>
          <a:xfrm>
            <a:off x="1097280" y="4663440"/>
            <a:ext cx="10058400" cy="411480"/>
          </a:xfrm>
          <a:prstGeom prst="rect">
            <a:avLst/>
          </a:prstGeom>
          <a:noFill/>
          <a:ln/>
        </p:spPr>
        <p:txBody>
          <a:bodyPr wrap="square" lIns="0" tIns="0" rIns="0" bIns="0" rtlCol="0" anchor="ctr"/>
          <a:lstStyle/>
          <a:p>
            <a:pPr indent="0" marL="0">
              <a:buNone/>
            </a:pPr>
            <a:r>
              <a:rPr lang="en-US" sz="1850" b="1" i="1" dirty="0">
                <a:solidFill>
                  <a:srgbClr val="92400E"/>
                </a:solidFill>
                <a:latin typeface="Calibri" pitchFamily="34" charset="0"/>
                <a:ea typeface="Calibri" pitchFamily="34" charset="-122"/>
                <a:cs typeface="Calibri" pitchFamily="34" charset="-120"/>
              </a:rPr>
              <a:t>Đừng lấy dòng này làm bằng chứng về người hay về thời gian.”</a:t>
            </a:r>
            <a:endParaRPr lang="en-US" sz="1850" dirty="0"/>
          </a:p>
        </p:txBody>
      </p:sp>
      <p:sp>
        <p:nvSpPr>
          <p:cNvPr id="13" name="Text 11"/>
          <p:cNvSpPr/>
          <p:nvPr/>
        </p:nvSpPr>
        <p:spPr>
          <a:xfrm>
            <a:off x="640080" y="5532120"/>
            <a:ext cx="10881360" cy="411480"/>
          </a:xfrm>
          <a:prstGeom prst="rect">
            <a:avLst/>
          </a:prstGeom>
          <a:noFill/>
          <a:ln/>
        </p:spPr>
        <p:txBody>
          <a:bodyPr wrap="square" lIns="0" tIns="0" rIns="0" bIns="0" rtlCol="0" anchor="ctr"/>
          <a:lstStyle/>
          <a:p>
            <a:pPr indent="0" marL="0">
              <a:buNone/>
            </a:pPr>
            <a:r>
              <a:rPr lang="en-US" sz="1960" b="1" dirty="0">
                <a:solidFill>
                  <a:srgbClr val="1A1035"/>
                </a:solidFill>
                <a:latin typeface="Calibri" pitchFamily="34" charset="0"/>
                <a:ea typeface="Calibri" pitchFamily="34" charset="-122"/>
                <a:cs typeface="Calibri" pitchFamily="34" charset="-120"/>
              </a:rPr>
              <a:t>Một dòng dữ liệu tự khai rằng nó không đáng tin — trong sản phẩm đang chạy thật.</a:t>
            </a:r>
            <a:endParaRPr lang="en-US" sz="19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F"/>
        </a:solidFill>
      </p:bgPr>
    </p:bg>
    <p:spTree>
      <p:nvGrpSpPr>
        <p:cNvPr id="1" name=""/>
        <p:cNvGrpSpPr/>
        <p:nvPr/>
      </p:nvGrpSpPr>
      <p:grpSpPr>
        <a:xfrm>
          <a:off x="0" y="0"/>
          <a:ext cx="0" cy="0"/>
          <a:chOff x="0" y="0"/>
          <a:chExt cx="0" cy="0"/>
        </a:xfrm>
      </p:grpSpPr>
      <p:sp>
        <p:nvSpPr>
          <p:cNvPr id="2" name="Text 0"/>
          <p:cNvSpPr/>
          <p:nvPr/>
        </p:nvSpPr>
        <p:spPr>
          <a:xfrm>
            <a:off x="640080" y="438912"/>
            <a:ext cx="10881360" cy="566928"/>
          </a:xfrm>
          <a:prstGeom prst="rect">
            <a:avLst/>
          </a:prstGeom>
          <a:noFill/>
          <a:ln/>
        </p:spPr>
        <p:txBody>
          <a:bodyPr wrap="square" lIns="0" tIns="0" rIns="0" bIns="0" rtlCol="0" anchor="ctr"/>
          <a:lstStyle/>
          <a:p>
            <a:pPr indent="0" marL="0">
              <a:buNone/>
            </a:pPr>
            <a:r>
              <a:rPr lang="en-US" sz="3260" b="1" spc="-70" kern="0" dirty="0">
                <a:solidFill>
                  <a:srgbClr val="1A1035"/>
                </a:solidFill>
                <a:latin typeface="Calibri" pitchFamily="34" charset="0"/>
                <a:ea typeface="Calibri" pitchFamily="34" charset="-122"/>
                <a:cs typeface="Calibri" pitchFamily="34" charset="-120"/>
              </a:rPr>
              <a:t>AI dừng ở đâu, người bắt đầu ở đâu</a:t>
            </a:r>
            <a:endParaRPr lang="en-US" sz="3260" dirty="0"/>
          </a:p>
        </p:txBody>
      </p:sp>
      <p:sp>
        <p:nvSpPr>
          <p:cNvPr id="3" name="Text 1"/>
          <p:cNvSpPr/>
          <p:nvPr/>
        </p:nvSpPr>
        <p:spPr>
          <a:xfrm>
            <a:off x="640080" y="1024128"/>
            <a:ext cx="10881360" cy="320040"/>
          </a:xfrm>
          <a:prstGeom prst="rect">
            <a:avLst/>
          </a:prstGeom>
          <a:noFill/>
          <a:ln/>
        </p:spPr>
        <p:txBody>
          <a:bodyPr wrap="square" lIns="0" tIns="0" rIns="0" bIns="0" rtlCol="0" anchor="ctr"/>
          <a:lstStyle/>
          <a:p>
            <a:pPr indent="0" marL="0">
              <a:buNone/>
            </a:pPr>
            <a:r>
              <a:rPr lang="en-US" sz="1600" dirty="0">
                <a:solidFill>
                  <a:srgbClr val="6B6280"/>
                </a:solidFill>
                <a:latin typeface="Calibri" pitchFamily="34" charset="0"/>
                <a:ea typeface="Calibri" pitchFamily="34" charset="-122"/>
                <a:cs typeface="Calibri" pitchFamily="34" charset="-120"/>
              </a:rPr>
              <a:t>Khi một ca cần chi tiền, hồ sơ đi qua hai người, không phải một.</a:t>
            </a:r>
            <a:endParaRPr lang="en-US" sz="1600" dirty="0"/>
          </a:p>
        </p:txBody>
      </p:sp>
      <p:sp>
        <p:nvSpPr>
          <p:cNvPr id="4" name="Shape 2"/>
          <p:cNvSpPr/>
          <p:nvPr/>
        </p:nvSpPr>
        <p:spPr>
          <a:xfrm>
            <a:off x="640080" y="1508760"/>
            <a:ext cx="5212080" cy="1600200"/>
          </a:xfrm>
          <a:prstGeom prst="roundRect">
            <a:avLst>
              <a:gd name="adj" fmla="val 4571"/>
            </a:avLst>
          </a:prstGeom>
          <a:solidFill>
            <a:srgbClr val="FFFFFF"/>
          </a:solidFill>
          <a:ln w="12700">
            <a:solidFill>
              <a:srgbClr val="E4DDF5"/>
            </a:solidFill>
            <a:prstDash val="solid"/>
          </a:ln>
        </p:spPr>
      </p:sp>
      <p:sp>
        <p:nvSpPr>
          <p:cNvPr id="5" name="Text 3"/>
          <p:cNvSpPr/>
          <p:nvPr/>
        </p:nvSpPr>
        <p:spPr>
          <a:xfrm>
            <a:off x="1051560" y="1691640"/>
            <a:ext cx="4480560" cy="365760"/>
          </a:xfrm>
          <a:prstGeom prst="rect">
            <a:avLst/>
          </a:prstGeom>
          <a:noFill/>
          <a:ln/>
        </p:spPr>
        <p:txBody>
          <a:bodyPr wrap="square" lIns="0" tIns="0" rIns="0" bIns="0" rtlCol="0" anchor="ctr"/>
          <a:lstStyle/>
          <a:p>
            <a:pPr indent="0" marL="0">
              <a:buNone/>
            </a:pPr>
            <a:r>
              <a:rPr lang="en-US" sz="1960" b="1" dirty="0">
                <a:solidFill>
                  <a:srgbClr val="6D28D9"/>
                </a:solidFill>
                <a:latin typeface="Calibri" pitchFamily="34" charset="0"/>
                <a:ea typeface="Calibri" pitchFamily="34" charset="-122"/>
                <a:cs typeface="Calibri" pitchFamily="34" charset="-120"/>
              </a:rPr>
              <a:t>Nhân viên</a:t>
            </a:r>
            <a:endParaRPr lang="en-US" sz="1960" dirty="0"/>
          </a:p>
        </p:txBody>
      </p:sp>
      <p:sp>
        <p:nvSpPr>
          <p:cNvPr id="6" name="Text 4"/>
          <p:cNvSpPr/>
          <p:nvPr/>
        </p:nvSpPr>
        <p:spPr>
          <a:xfrm>
            <a:off x="1051560" y="2121408"/>
            <a:ext cx="4480560" cy="822960"/>
          </a:xfrm>
          <a:prstGeom prst="rect">
            <a:avLst/>
          </a:prstGeom>
          <a:noFill/>
          <a:ln/>
        </p:spPr>
        <p:txBody>
          <a:bodyPr wrap="square" lIns="0" tIns="0" rIns="0" bIns="0" rtlCol="0" anchor="ctr"/>
          <a:lstStyle/>
          <a:p>
            <a:pPr indent="0" marL="0">
              <a:lnSpc>
                <a:spcPct val="120000"/>
              </a:lnSpc>
              <a:buNone/>
            </a:pPr>
            <a:r>
              <a:rPr lang="en-US" sz="1350" dirty="0">
                <a:solidFill>
                  <a:srgbClr val="6B6280"/>
                </a:solidFill>
                <a:latin typeface="Calibri" pitchFamily="34" charset="0"/>
                <a:ea typeface="Calibri" pitchFamily="34" charset="-122"/>
                <a:cs typeface="Calibri" pitchFamily="34" charset="-120"/>
              </a:rPr>
              <a:t>Đọc hồ sơ trợ lý Sen đã dựng sẵn, kiểm lại, rồi viết hướng xử lý đề nghị:</a:t>
            </a:r>
            <a:endParaRPr lang="en-US" sz="1350" dirty="0"/>
          </a:p>
          <a:p>
            <a:pPr indent="0" marL="0">
              <a:lnSpc>
                <a:spcPct val="120000"/>
              </a:lnSpc>
              <a:buNone/>
            </a:pPr>
            <a:r>
              <a:rPr lang="en-US" sz="1350" dirty="0">
                <a:solidFill>
                  <a:srgbClr val="6B6280"/>
                </a:solidFill>
                <a:latin typeface="Calibri" pitchFamily="34" charset="0"/>
                <a:ea typeface="Calibri" pitchFamily="34" charset="-122"/>
                <a:cs typeface="Calibri" pitchFamily="34" charset="-120"/>
              </a:rPr>
              <a:t>hoàn hay không hoàn, hoàn bao nhiêu, căn cứ vào đâu.</a:t>
            </a:r>
            <a:endParaRPr lang="en-US" sz="1350" dirty="0"/>
          </a:p>
        </p:txBody>
      </p:sp>
      <p:sp>
        <p:nvSpPr>
          <p:cNvPr id="7" name="Shape 5"/>
          <p:cNvSpPr/>
          <p:nvPr/>
        </p:nvSpPr>
        <p:spPr>
          <a:xfrm>
            <a:off x="6217920" y="1508760"/>
            <a:ext cx="5212080" cy="1600200"/>
          </a:xfrm>
          <a:prstGeom prst="roundRect">
            <a:avLst>
              <a:gd name="adj" fmla="val 4571"/>
            </a:avLst>
          </a:prstGeom>
          <a:solidFill>
            <a:srgbClr val="FFFFFF"/>
          </a:solidFill>
          <a:ln w="12700">
            <a:solidFill>
              <a:srgbClr val="E4DDF5"/>
            </a:solidFill>
            <a:prstDash val="solid"/>
          </a:ln>
        </p:spPr>
      </p:sp>
      <p:sp>
        <p:nvSpPr>
          <p:cNvPr id="8" name="Text 6"/>
          <p:cNvSpPr/>
          <p:nvPr/>
        </p:nvSpPr>
        <p:spPr>
          <a:xfrm>
            <a:off x="6629400" y="1691640"/>
            <a:ext cx="4480560" cy="365760"/>
          </a:xfrm>
          <a:prstGeom prst="rect">
            <a:avLst/>
          </a:prstGeom>
          <a:noFill/>
          <a:ln/>
        </p:spPr>
        <p:txBody>
          <a:bodyPr wrap="square" lIns="0" tIns="0" rIns="0" bIns="0" rtlCol="0" anchor="ctr"/>
          <a:lstStyle/>
          <a:p>
            <a:pPr indent="0" marL="0">
              <a:buNone/>
            </a:pPr>
            <a:r>
              <a:rPr lang="en-US" sz="1960" b="1" dirty="0">
                <a:solidFill>
                  <a:srgbClr val="6D28D9"/>
                </a:solidFill>
                <a:latin typeface="Calibri" pitchFamily="34" charset="0"/>
                <a:ea typeface="Calibri" pitchFamily="34" charset="-122"/>
                <a:cs typeface="Calibri" pitchFamily="34" charset="-120"/>
              </a:rPr>
              <a:t>Sếp</a:t>
            </a:r>
            <a:endParaRPr lang="en-US" sz="1960" dirty="0"/>
          </a:p>
        </p:txBody>
      </p:sp>
      <p:sp>
        <p:nvSpPr>
          <p:cNvPr id="9" name="Text 7"/>
          <p:cNvSpPr/>
          <p:nvPr/>
        </p:nvSpPr>
        <p:spPr>
          <a:xfrm>
            <a:off x="6629400" y="2121408"/>
            <a:ext cx="4480560" cy="822960"/>
          </a:xfrm>
          <a:prstGeom prst="rect">
            <a:avLst/>
          </a:prstGeom>
          <a:noFill/>
          <a:ln/>
        </p:spPr>
        <p:txBody>
          <a:bodyPr wrap="square" lIns="0" tIns="0" rIns="0" bIns="0" rtlCol="0" anchor="ctr"/>
          <a:lstStyle/>
          <a:p>
            <a:pPr indent="0" marL="0">
              <a:lnSpc>
                <a:spcPct val="120000"/>
              </a:lnSpc>
              <a:buNone/>
            </a:pPr>
            <a:r>
              <a:rPr lang="en-US" sz="1350" dirty="0">
                <a:solidFill>
                  <a:srgbClr val="6B6280"/>
                </a:solidFill>
                <a:latin typeface="Calibri" pitchFamily="34" charset="0"/>
                <a:ea typeface="Calibri" pitchFamily="34" charset="-122"/>
                <a:cs typeface="Calibri" pitchFamily="34" charset="-120"/>
              </a:rPr>
              <a:t>Mở lên, thấy đủ căn cứ, rồi quyết:</a:t>
            </a:r>
            <a:endParaRPr lang="en-US" sz="1350" dirty="0"/>
          </a:p>
          <a:p>
            <a:pPr indent="0" marL="0">
              <a:lnSpc>
                <a:spcPct val="120000"/>
              </a:lnSpc>
              <a:buNone/>
            </a:pPr>
            <a:r>
              <a:rPr lang="en-US" sz="1350" dirty="0">
                <a:solidFill>
                  <a:srgbClr val="6B6280"/>
                </a:solidFill>
                <a:latin typeface="Calibri" pitchFamily="34" charset="0"/>
                <a:ea typeface="Calibri" pitchFamily="34" charset="-122"/>
                <a:cs typeface="Calibri" pitchFamily="34" charset="-120"/>
              </a:rPr>
              <a:t>duyệt · từ chối · hoặc yêu cầu điều tra thêm.</a:t>
            </a:r>
            <a:endParaRPr lang="en-US" sz="1350" dirty="0"/>
          </a:p>
        </p:txBody>
      </p:sp>
      <p:sp>
        <p:nvSpPr>
          <p:cNvPr id="10" name="Text 8"/>
          <p:cNvSpPr/>
          <p:nvPr/>
        </p:nvSpPr>
        <p:spPr>
          <a:xfrm>
            <a:off x="640080" y="3337560"/>
            <a:ext cx="10881360" cy="548640"/>
          </a:xfrm>
          <a:prstGeom prst="rect">
            <a:avLst/>
          </a:prstGeom>
          <a:noFill/>
          <a:ln/>
        </p:spPr>
        <p:txBody>
          <a:bodyPr wrap="square" lIns="0" tIns="0" rIns="0" bIns="0" rtlCol="0" anchor="ctr"/>
          <a:lstStyle/>
          <a:p>
            <a:pPr indent="0" marL="0">
              <a:buNone/>
            </a:pPr>
            <a:r>
              <a:rPr lang="en-US" sz="3150" b="1" spc="-70" kern="0" dirty="0">
                <a:solidFill>
                  <a:srgbClr val="1A1035"/>
                </a:solidFill>
                <a:latin typeface="Calibri" pitchFamily="34" charset="0"/>
                <a:ea typeface="Calibri" pitchFamily="34" charset="-122"/>
                <a:cs typeface="Calibri" pitchFamily="34" charset="-120"/>
              </a:rPr>
              <a:t>Sen không viết đề nghị. Sen không bấm duyệt.</a:t>
            </a:r>
            <a:endParaRPr lang="en-US" sz="3150" dirty="0"/>
          </a:p>
        </p:txBody>
      </p:sp>
      <p:sp>
        <p:nvSpPr>
          <p:cNvPr id="11" name="Text 9"/>
          <p:cNvSpPr/>
          <p:nvPr/>
        </p:nvSpPr>
        <p:spPr>
          <a:xfrm>
            <a:off x="640080" y="3913632"/>
            <a:ext cx="10881360" cy="365760"/>
          </a:xfrm>
          <a:prstGeom prst="rect">
            <a:avLst/>
          </a:prstGeom>
          <a:noFill/>
          <a:ln/>
        </p:spPr>
        <p:txBody>
          <a:bodyPr wrap="square" lIns="0" tIns="0" rIns="0" bIns="0" rtlCol="0" anchor="ctr"/>
          <a:lstStyle/>
          <a:p>
            <a:pPr indent="0" marL="0">
              <a:buNone/>
            </a:pPr>
            <a:r>
              <a:rPr lang="en-US" sz="1550" dirty="0">
                <a:solidFill>
                  <a:srgbClr val="6B6280"/>
                </a:solidFill>
                <a:latin typeface="Calibri" pitchFamily="34" charset="0"/>
                <a:ea typeface="Calibri" pitchFamily="34" charset="-122"/>
                <a:cs typeface="Calibri" pitchFamily="34" charset="-120"/>
              </a:rPr>
              <a:t>Không phải vì chưa làm kịp — mà vì hệ thống không có đường nào cho Sen làm hai việc đó.</a:t>
            </a:r>
            <a:endParaRPr lang="en-US" sz="1550" dirty="0"/>
          </a:p>
        </p:txBody>
      </p:sp>
      <p:sp>
        <p:nvSpPr>
          <p:cNvPr id="12" name="Shape 10"/>
          <p:cNvSpPr/>
          <p:nvPr/>
        </p:nvSpPr>
        <p:spPr>
          <a:xfrm>
            <a:off x="640080" y="4434840"/>
            <a:ext cx="10881360" cy="1143000"/>
          </a:xfrm>
          <a:prstGeom prst="roundRect">
            <a:avLst>
              <a:gd name="adj" fmla="val 6400"/>
            </a:avLst>
          </a:prstGeom>
          <a:solidFill>
            <a:srgbClr val="F0EAFB"/>
          </a:solidFill>
          <a:ln/>
        </p:spPr>
      </p:sp>
      <p:sp>
        <p:nvSpPr>
          <p:cNvPr id="13" name="Text 11"/>
          <p:cNvSpPr/>
          <p:nvPr/>
        </p:nvSpPr>
        <p:spPr>
          <a:xfrm>
            <a:off x="1051560" y="4434840"/>
            <a:ext cx="10058400" cy="1143000"/>
          </a:xfrm>
          <a:prstGeom prst="rect">
            <a:avLst/>
          </a:prstGeom>
          <a:noFill/>
          <a:ln/>
        </p:spPr>
        <p:txBody>
          <a:bodyPr wrap="square" lIns="0" tIns="0" rIns="0" bIns="0" rtlCol="0" anchor="ctr"/>
          <a:lstStyle/>
          <a:p>
            <a:pPr indent="0" marL="0">
              <a:lnSpc>
                <a:spcPct val="125000"/>
              </a:lnSpc>
              <a:buNone/>
            </a:pPr>
            <a:r>
              <a:rPr lang="en-US" sz="1450" dirty="0">
                <a:solidFill>
                  <a:srgbClr val="1A1035"/>
                </a:solidFill>
                <a:latin typeface="Calibri" pitchFamily="34" charset="0"/>
                <a:ea typeface="Calibri" pitchFamily="34" charset="-122"/>
                <a:cs typeface="Calibri" pitchFamily="34" charset="-120"/>
              </a:rPr>
              <a:t>Và người viết đề nghị cũng không tự duyệt được đề nghị của chính mình. Đây là nguyên tắc quen thuộc trong ngành tài chính: người làm và người duyệt phải là hai người. Ở đây nó không nằm trong quy định nội bộ — nó nằm trong kho dữ liệu. Bấm là không được.</a:t>
            </a:r>
            <a:endParaRPr lang="en-US" sz="1450" dirty="0"/>
          </a:p>
        </p:txBody>
      </p:sp>
      <p:sp>
        <p:nvSpPr>
          <p:cNvPr id="14" name="Text 12"/>
          <p:cNvSpPr/>
          <p:nvPr/>
        </p:nvSpPr>
        <p:spPr>
          <a:xfrm>
            <a:off x="640080" y="5760720"/>
            <a:ext cx="10881360" cy="365760"/>
          </a:xfrm>
          <a:prstGeom prst="rect">
            <a:avLst/>
          </a:prstGeom>
          <a:noFill/>
          <a:ln/>
        </p:spPr>
        <p:txBody>
          <a:bodyPr wrap="square" lIns="0" tIns="0" rIns="0" bIns="0" rtlCol="0" anchor="ctr"/>
          <a:lstStyle/>
          <a:p>
            <a:pPr indent="0" marL="0">
              <a:buNone/>
            </a:pPr>
            <a:r>
              <a:rPr lang="en-US" sz="1500" b="1" dirty="0">
                <a:solidFill>
                  <a:srgbClr val="1A1035"/>
                </a:solidFill>
                <a:latin typeface="Calibri" pitchFamily="34" charset="0"/>
                <a:ea typeface="Calibri" pitchFamily="34" charset="-122"/>
                <a:cs typeface="Calibri" pitchFamily="34" charset="-120"/>
              </a:rPr>
              <a:t>Mọi lần duyệt và từ chối đều được ghi lại: ai, lúc nào, căn cứ gì. Người dùng thường không sửa được, không xoá được.</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035"/>
        </a:solidFill>
      </p:bgPr>
    </p:bg>
    <p:spTree>
      <p:nvGrpSpPr>
        <p:cNvPr id="1" name=""/>
        <p:cNvGrpSpPr/>
        <p:nvPr/>
      </p:nvGrpSpPr>
      <p:grpSpPr>
        <a:xfrm>
          <a:off x="0" y="0"/>
          <a:ext cx="0" cy="0"/>
          <a:chOff x="0" y="0"/>
          <a:chExt cx="0" cy="0"/>
        </a:xfrm>
      </p:grpSpPr>
      <p:sp>
        <p:nvSpPr>
          <p:cNvPr id="2" name="Text 0"/>
          <p:cNvSpPr/>
          <p:nvPr/>
        </p:nvSpPr>
        <p:spPr>
          <a:xfrm>
            <a:off x="640080" y="777240"/>
            <a:ext cx="3840480" cy="1554480"/>
          </a:xfrm>
          <a:prstGeom prst="rect">
            <a:avLst/>
          </a:prstGeom>
          <a:noFill/>
          <a:ln/>
        </p:spPr>
        <p:txBody>
          <a:bodyPr wrap="square" lIns="0" tIns="0" rIns="0" bIns="0" rtlCol="0" anchor="ctr"/>
          <a:lstStyle/>
          <a:p>
            <a:pPr indent="0" marL="0">
              <a:buNone/>
            </a:pPr>
            <a:r>
              <a:rPr lang="en-US" sz="11130" b="1" spc="-120" kern="0" dirty="0">
                <a:solidFill>
                  <a:srgbClr val="A78BFA"/>
                </a:solidFill>
                <a:latin typeface="Calibri" pitchFamily="34" charset="0"/>
                <a:ea typeface="Calibri" pitchFamily="34" charset="-122"/>
                <a:cs typeface="Calibri" pitchFamily="34" charset="-120"/>
              </a:rPr>
              <a:t>18</a:t>
            </a:r>
            <a:endParaRPr lang="en-US" sz="11130" dirty="0"/>
          </a:p>
        </p:txBody>
      </p:sp>
      <p:sp>
        <p:nvSpPr>
          <p:cNvPr id="3" name="Text 1"/>
          <p:cNvSpPr/>
          <p:nvPr/>
        </p:nvSpPr>
        <p:spPr>
          <a:xfrm>
            <a:off x="640080" y="2331720"/>
            <a:ext cx="4846320" cy="914400"/>
          </a:xfrm>
          <a:prstGeom prst="rect">
            <a:avLst/>
          </a:prstGeom>
          <a:noFill/>
          <a:ln/>
        </p:spPr>
        <p:txBody>
          <a:bodyPr wrap="square" lIns="0" tIns="0" rIns="0" bIns="0" rtlCol="0" anchor="ctr"/>
          <a:lstStyle/>
          <a:p>
            <a:pPr indent="0" marL="0">
              <a:lnSpc>
                <a:spcPct val="120000"/>
              </a:lnSpc>
              <a:buNone/>
            </a:pPr>
            <a:r>
              <a:rPr lang="en-US" sz="2060" b="1" dirty="0">
                <a:solidFill>
                  <a:srgbClr val="FFFFFF"/>
                </a:solidFill>
                <a:latin typeface="Calibri" pitchFamily="34" charset="0"/>
                <a:ea typeface="Calibri" pitchFamily="34" charset="-122"/>
                <a:cs typeface="Calibri" pitchFamily="34" charset="-120"/>
              </a:rPr>
              <a:t>con số sai được tìm ra</a:t>
            </a:r>
            <a:endParaRPr lang="en-US" sz="2060" dirty="0"/>
          </a:p>
          <a:p>
            <a:pPr indent="0" marL="0">
              <a:lnSpc>
                <a:spcPct val="120000"/>
              </a:lnSpc>
              <a:buNone/>
            </a:pPr>
            <a:r>
              <a:rPr lang="en-US" sz="2060" b="1" dirty="0">
                <a:solidFill>
                  <a:srgbClr val="FFFFFF"/>
                </a:solidFill>
                <a:latin typeface="Calibri" pitchFamily="34" charset="0"/>
                <a:ea typeface="Calibri" pitchFamily="34" charset="-122"/>
                <a:cs typeface="Calibri" pitchFamily="34" charset="-120"/>
              </a:rPr>
              <a:t>trong đúng một ngày.</a:t>
            </a:r>
            <a:endParaRPr lang="en-US" sz="2060" dirty="0"/>
          </a:p>
        </p:txBody>
      </p:sp>
      <p:sp>
        <p:nvSpPr>
          <p:cNvPr id="4" name="Text 2"/>
          <p:cNvSpPr/>
          <p:nvPr/>
        </p:nvSpPr>
        <p:spPr>
          <a:xfrm>
            <a:off x="640080" y="3383280"/>
            <a:ext cx="3840480" cy="685800"/>
          </a:xfrm>
          <a:prstGeom prst="rect">
            <a:avLst/>
          </a:prstGeom>
          <a:noFill/>
          <a:ln/>
        </p:spPr>
        <p:txBody>
          <a:bodyPr wrap="square" lIns="0" tIns="0" rIns="0" bIns="0" rtlCol="0" anchor="ctr"/>
          <a:lstStyle/>
          <a:p>
            <a:pPr indent="0" marL="0">
              <a:buNone/>
            </a:pPr>
            <a:r>
              <a:rPr lang="en-US" sz="4660" b="1" spc="-120" kern="0" dirty="0">
                <a:solidFill>
                  <a:srgbClr val="D97706"/>
                </a:solidFill>
                <a:latin typeface="Calibri" pitchFamily="34" charset="0"/>
                <a:ea typeface="Calibri" pitchFamily="34" charset="-122"/>
                <a:cs typeface="Calibri" pitchFamily="34" charset="-120"/>
              </a:rPr>
              <a:t>0</a:t>
            </a:r>
            <a:endParaRPr lang="en-US" sz="4660" dirty="0"/>
          </a:p>
        </p:txBody>
      </p:sp>
      <p:sp>
        <p:nvSpPr>
          <p:cNvPr id="5" name="Text 3"/>
          <p:cNvSpPr/>
          <p:nvPr/>
        </p:nvSpPr>
        <p:spPr>
          <a:xfrm>
            <a:off x="640080" y="4069080"/>
            <a:ext cx="4846320" cy="365760"/>
          </a:xfrm>
          <a:prstGeom prst="rect">
            <a:avLst/>
          </a:prstGeom>
          <a:noFill/>
          <a:ln/>
        </p:spPr>
        <p:txBody>
          <a:bodyPr wrap="square" lIns="0" tIns="0" rIns="0" bIns="0" rtlCol="0" anchor="ctr"/>
          <a:lstStyle/>
          <a:p>
            <a:pPr indent="0" marL="0">
              <a:buNone/>
            </a:pPr>
            <a:r>
              <a:rPr lang="en-US" sz="1750" dirty="0">
                <a:solidFill>
                  <a:srgbClr val="C3B6E0"/>
                </a:solidFill>
                <a:latin typeface="Calibri" pitchFamily="34" charset="0"/>
                <a:ea typeface="Calibri" pitchFamily="34" charset="-122"/>
                <a:cs typeface="Calibri" pitchFamily="34" charset="-120"/>
              </a:rPr>
              <a:t>cái bị máy tự bắt.</a:t>
            </a:r>
            <a:endParaRPr lang="en-US" sz="1750" dirty="0"/>
          </a:p>
        </p:txBody>
      </p:sp>
      <p:sp>
        <p:nvSpPr>
          <p:cNvPr id="6" name="Text 4"/>
          <p:cNvSpPr/>
          <p:nvPr/>
        </p:nvSpPr>
        <p:spPr>
          <a:xfrm>
            <a:off x="640080" y="4663440"/>
            <a:ext cx="4846320" cy="914400"/>
          </a:xfrm>
          <a:prstGeom prst="rect">
            <a:avLst/>
          </a:prstGeom>
          <a:noFill/>
          <a:ln/>
        </p:spPr>
        <p:txBody>
          <a:bodyPr wrap="square" lIns="0" tIns="0" rIns="0" bIns="0" rtlCol="0" anchor="ctr"/>
          <a:lstStyle/>
          <a:p>
            <a:pPr indent="0" marL="0">
              <a:lnSpc>
                <a:spcPct val="125000"/>
              </a:lnSpc>
              <a:buNone/>
            </a:pPr>
            <a:r>
              <a:rPr lang="en-US" sz="1350" i="1" dirty="0">
                <a:solidFill>
                  <a:srgbClr val="C3B6E0"/>
                </a:solidFill>
                <a:latin typeface="Calibri" pitchFamily="34" charset="0"/>
                <a:ea typeface="Calibri" pitchFamily="34" charset="-122"/>
                <a:cs typeface="Calibri" pitchFamily="34" charset="-120"/>
              </a:rPr>
              <a:t>Cả 18 cái đều do một người thứ hai đọc lại người thứ nhất mà ra. Kể cả cái thứ 18 — sinh ra ngay trong lúc đang sửa 17 cái kia.</a:t>
            </a:r>
            <a:endParaRPr lang="en-US" sz="1350" dirty="0"/>
          </a:p>
        </p:txBody>
      </p:sp>
      <p:sp>
        <p:nvSpPr>
          <p:cNvPr id="7" name="Text 5"/>
          <p:cNvSpPr/>
          <p:nvPr/>
        </p:nvSpPr>
        <p:spPr>
          <a:xfrm>
            <a:off x="5943600" y="777240"/>
            <a:ext cx="5577840" cy="777240"/>
          </a:xfrm>
          <a:prstGeom prst="rect">
            <a:avLst/>
          </a:prstGeom>
          <a:noFill/>
          <a:ln/>
        </p:spPr>
        <p:txBody>
          <a:bodyPr wrap="square" lIns="0" tIns="0" rIns="0" bIns="0" rtlCol="0" anchor="ctr"/>
          <a:lstStyle/>
          <a:p>
            <a:pPr indent="0" marL="0">
              <a:lnSpc>
                <a:spcPct val="120000"/>
              </a:lnSpc>
              <a:buNone/>
            </a:pPr>
            <a:r>
              <a:rPr lang="en-US" sz="1750" b="1" dirty="0">
                <a:solidFill>
                  <a:srgbClr val="FFFFFF"/>
                </a:solidFill>
                <a:latin typeface="Calibri" pitchFamily="34" charset="0"/>
                <a:ea typeface="Calibri" pitchFamily="34" charset="-122"/>
                <a:cs typeface="Calibri" pitchFamily="34" charset="-120"/>
              </a:rPr>
              <a:t>Không cái nào là tính nhầm. Tất cả đều là con số đúng, nhưng đang nói về chuyện khác.</a:t>
            </a:r>
            <a:endParaRPr lang="en-US" sz="1750" dirty="0"/>
          </a:p>
        </p:txBody>
      </p:sp>
      <p:sp>
        <p:nvSpPr>
          <p:cNvPr id="8" name="Text 6"/>
          <p:cNvSpPr/>
          <p:nvPr/>
        </p:nvSpPr>
        <p:spPr>
          <a:xfrm>
            <a:off x="5943600" y="1645920"/>
            <a:ext cx="5577840" cy="548640"/>
          </a:xfrm>
          <a:prstGeom prst="rect">
            <a:avLst/>
          </a:prstGeom>
          <a:noFill/>
          <a:ln/>
        </p:spPr>
        <p:txBody>
          <a:bodyPr wrap="square" lIns="0" tIns="0" rIns="0" bIns="0" rtlCol="0" anchor="ctr"/>
          <a:lstStyle/>
          <a:p>
            <a:pPr indent="0" marL="0">
              <a:lnSpc>
                <a:spcPct val="120000"/>
              </a:lnSpc>
              <a:buNone/>
            </a:pPr>
            <a:r>
              <a:rPr lang="en-US" sz="1400" i="1" dirty="0">
                <a:solidFill>
                  <a:srgbClr val="C3B6E0"/>
                </a:solidFill>
                <a:latin typeface="Calibri" pitchFamily="34" charset="0"/>
                <a:ea typeface="Calibri" pitchFamily="34" charset="-122"/>
                <a:cs typeface="Calibri" pitchFamily="34" charset="-120"/>
              </a:rPr>
              <a:t>Giống câu “lớp tôi cao trung bình 1m70” — đúng, nếu chỉ tính các bạn nam.</a:t>
            </a:r>
            <a:endParaRPr lang="en-US" sz="1400" dirty="0"/>
          </a:p>
        </p:txBody>
      </p:sp>
      <p:sp>
        <p:nvSpPr>
          <p:cNvPr id="9" name="Text 7"/>
          <p:cNvSpPr/>
          <p:nvPr/>
        </p:nvSpPr>
        <p:spPr>
          <a:xfrm>
            <a:off x="5943600" y="2331720"/>
            <a:ext cx="5577840" cy="320040"/>
          </a:xfrm>
          <a:prstGeom prst="rect">
            <a:avLst/>
          </a:prstGeom>
          <a:noFill/>
          <a:ln/>
        </p:spPr>
        <p:txBody>
          <a:bodyPr wrap="square" lIns="0" tIns="0" rIns="0" bIns="0" rtlCol="0" anchor="ctr"/>
          <a:lstStyle/>
          <a:p>
            <a:pPr indent="0" marL="0">
              <a:buNone/>
            </a:pPr>
            <a:r>
              <a:rPr lang="en-US" sz="1300" dirty="0">
                <a:solidFill>
                  <a:srgbClr val="C3B6E0"/>
                </a:solidFill>
                <a:latin typeface="Calibri" pitchFamily="34" charset="0"/>
                <a:ea typeface="Calibri" pitchFamily="34" charset="-122"/>
                <a:cs typeface="Calibri" pitchFamily="34" charset="-120"/>
              </a:rPr>
              <a:t>Ví dụ có thật — bộ dấu hiệu giao dịch đáng ngờ:</a:t>
            </a:r>
            <a:endParaRPr lang="en-US" sz="1300" dirty="0"/>
          </a:p>
        </p:txBody>
      </p:sp>
      <p:sp>
        <p:nvSpPr>
          <p:cNvPr id="10" name="Shape 8"/>
          <p:cNvSpPr/>
          <p:nvPr/>
        </p:nvSpPr>
        <p:spPr>
          <a:xfrm>
            <a:off x="6903720" y="2724912"/>
            <a:ext cx="4572000" cy="475488"/>
          </a:xfrm>
          <a:prstGeom prst="roundRect">
            <a:avLst>
              <a:gd name="adj" fmla="val 9615"/>
            </a:avLst>
          </a:prstGeom>
          <a:solidFill>
            <a:srgbClr val="2E1A5E"/>
          </a:solidFill>
          <a:ln/>
        </p:spPr>
      </p:sp>
      <p:sp>
        <p:nvSpPr>
          <p:cNvPr id="11" name="Text 9"/>
          <p:cNvSpPr/>
          <p:nvPr/>
        </p:nvSpPr>
        <p:spPr>
          <a:xfrm>
            <a:off x="5943600" y="2724912"/>
            <a:ext cx="868680" cy="475488"/>
          </a:xfrm>
          <a:prstGeom prst="rect">
            <a:avLst/>
          </a:prstGeom>
          <a:noFill/>
          <a:ln/>
        </p:spPr>
        <p:txBody>
          <a:bodyPr wrap="square" lIns="0" tIns="0" rIns="0" bIns="0" rtlCol="0" anchor="ctr"/>
          <a:lstStyle/>
          <a:p>
            <a:pPr algn="r" indent="0" marL="0">
              <a:buNone/>
            </a:pPr>
            <a:r>
              <a:rPr lang="en-US" sz="2270" b="1" dirty="0">
                <a:solidFill>
                  <a:srgbClr val="FFFFFF"/>
                </a:solidFill>
                <a:latin typeface="Calibri" pitchFamily="34" charset="0"/>
                <a:ea typeface="Calibri" pitchFamily="34" charset="-122"/>
                <a:cs typeface="Calibri" pitchFamily="34" charset="-120"/>
              </a:rPr>
              <a:t>12</a:t>
            </a:r>
            <a:endParaRPr lang="en-US" sz="2270" dirty="0"/>
          </a:p>
        </p:txBody>
      </p:sp>
      <p:sp>
        <p:nvSpPr>
          <p:cNvPr id="12" name="Text 10"/>
          <p:cNvSpPr/>
          <p:nvPr/>
        </p:nvSpPr>
        <p:spPr>
          <a:xfrm>
            <a:off x="7132320" y="2724912"/>
            <a:ext cx="457200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tài liệu ghi</a:t>
            </a:r>
            <a:endParaRPr lang="en-US" sz="1250" dirty="0"/>
          </a:p>
        </p:txBody>
      </p:sp>
      <p:sp>
        <p:nvSpPr>
          <p:cNvPr id="13" name="Shape 11"/>
          <p:cNvSpPr/>
          <p:nvPr/>
        </p:nvSpPr>
        <p:spPr>
          <a:xfrm>
            <a:off x="6903720" y="3328416"/>
            <a:ext cx="4187952" cy="475488"/>
          </a:xfrm>
          <a:prstGeom prst="roundRect">
            <a:avLst>
              <a:gd name="adj" fmla="val 9615"/>
            </a:avLst>
          </a:prstGeom>
          <a:solidFill>
            <a:srgbClr val="2E1A5E"/>
          </a:solidFill>
          <a:ln/>
        </p:spPr>
      </p:sp>
      <p:sp>
        <p:nvSpPr>
          <p:cNvPr id="14" name="Text 12"/>
          <p:cNvSpPr/>
          <p:nvPr/>
        </p:nvSpPr>
        <p:spPr>
          <a:xfrm>
            <a:off x="5943600" y="3328416"/>
            <a:ext cx="868680" cy="475488"/>
          </a:xfrm>
          <a:prstGeom prst="rect">
            <a:avLst/>
          </a:prstGeom>
          <a:noFill/>
          <a:ln/>
        </p:spPr>
        <p:txBody>
          <a:bodyPr wrap="square" lIns="0" tIns="0" rIns="0" bIns="0" rtlCol="0" anchor="ctr"/>
          <a:lstStyle/>
          <a:p>
            <a:pPr algn="r" indent="0" marL="0">
              <a:buNone/>
            </a:pPr>
            <a:r>
              <a:rPr lang="en-US" sz="2270" b="1" dirty="0">
                <a:solidFill>
                  <a:srgbClr val="FFFFFF"/>
                </a:solidFill>
                <a:latin typeface="Calibri" pitchFamily="34" charset="0"/>
                <a:ea typeface="Calibri" pitchFamily="34" charset="-122"/>
                <a:cs typeface="Calibri" pitchFamily="34" charset="-120"/>
              </a:rPr>
              <a:t>11</a:t>
            </a:r>
            <a:endParaRPr lang="en-US" sz="2270" dirty="0"/>
          </a:p>
        </p:txBody>
      </p:sp>
      <p:sp>
        <p:nvSpPr>
          <p:cNvPr id="15" name="Text 13"/>
          <p:cNvSpPr/>
          <p:nvPr/>
        </p:nvSpPr>
        <p:spPr>
          <a:xfrm>
            <a:off x="7132320" y="3328416"/>
            <a:ext cx="4187952"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dữ liệu gắn nhãn</a:t>
            </a:r>
            <a:endParaRPr lang="en-US" sz="1250" dirty="0"/>
          </a:p>
        </p:txBody>
      </p:sp>
      <p:sp>
        <p:nvSpPr>
          <p:cNvPr id="16" name="Shape 14"/>
          <p:cNvSpPr/>
          <p:nvPr/>
        </p:nvSpPr>
        <p:spPr>
          <a:xfrm>
            <a:off x="6903720" y="3931920"/>
            <a:ext cx="2286000" cy="475488"/>
          </a:xfrm>
          <a:prstGeom prst="roundRect">
            <a:avLst>
              <a:gd name="adj" fmla="val 9615"/>
            </a:avLst>
          </a:prstGeom>
          <a:solidFill>
            <a:srgbClr val="2E1A5E"/>
          </a:solidFill>
          <a:ln/>
        </p:spPr>
      </p:sp>
      <p:sp>
        <p:nvSpPr>
          <p:cNvPr id="17" name="Text 15"/>
          <p:cNvSpPr/>
          <p:nvPr/>
        </p:nvSpPr>
        <p:spPr>
          <a:xfrm>
            <a:off x="5943600" y="3931920"/>
            <a:ext cx="868680" cy="475488"/>
          </a:xfrm>
          <a:prstGeom prst="rect">
            <a:avLst/>
          </a:prstGeom>
          <a:noFill/>
          <a:ln/>
        </p:spPr>
        <p:txBody>
          <a:bodyPr wrap="square" lIns="0" tIns="0" rIns="0" bIns="0" rtlCol="0" anchor="ctr"/>
          <a:lstStyle/>
          <a:p>
            <a:pPr algn="r" indent="0" marL="0">
              <a:buNone/>
            </a:pPr>
            <a:r>
              <a:rPr lang="en-US" sz="2270" b="1" dirty="0">
                <a:solidFill>
                  <a:srgbClr val="FFFFFF"/>
                </a:solidFill>
                <a:latin typeface="Calibri" pitchFamily="34" charset="0"/>
                <a:ea typeface="Calibri" pitchFamily="34" charset="-122"/>
                <a:cs typeface="Calibri" pitchFamily="34" charset="-120"/>
              </a:rPr>
              <a:t>6</a:t>
            </a:r>
            <a:endParaRPr lang="en-US" sz="2270" dirty="0"/>
          </a:p>
        </p:txBody>
      </p:sp>
      <p:sp>
        <p:nvSpPr>
          <p:cNvPr id="18" name="Text 16"/>
          <p:cNvSpPr/>
          <p:nvPr/>
        </p:nvSpPr>
        <p:spPr>
          <a:xfrm>
            <a:off x="7132320" y="3931920"/>
            <a:ext cx="228600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có trong mã nguồn</a:t>
            </a:r>
            <a:endParaRPr lang="en-US" sz="1250" dirty="0"/>
          </a:p>
        </p:txBody>
      </p:sp>
      <p:sp>
        <p:nvSpPr>
          <p:cNvPr id="19" name="Shape 17"/>
          <p:cNvSpPr/>
          <p:nvPr/>
        </p:nvSpPr>
        <p:spPr>
          <a:xfrm>
            <a:off x="6903720" y="4535424"/>
            <a:ext cx="868680" cy="475488"/>
          </a:xfrm>
          <a:prstGeom prst="roundRect">
            <a:avLst>
              <a:gd name="adj" fmla="val 9615"/>
            </a:avLst>
          </a:prstGeom>
          <a:solidFill>
            <a:srgbClr val="E11D48"/>
          </a:solidFill>
          <a:ln/>
        </p:spPr>
      </p:sp>
      <p:sp>
        <p:nvSpPr>
          <p:cNvPr id="20" name="Text 18"/>
          <p:cNvSpPr/>
          <p:nvPr/>
        </p:nvSpPr>
        <p:spPr>
          <a:xfrm>
            <a:off x="5943600" y="4535424"/>
            <a:ext cx="868680" cy="475488"/>
          </a:xfrm>
          <a:prstGeom prst="rect">
            <a:avLst/>
          </a:prstGeom>
          <a:noFill/>
          <a:ln/>
        </p:spPr>
        <p:txBody>
          <a:bodyPr wrap="square" lIns="0" tIns="0" rIns="0" bIns="0" rtlCol="0" anchor="ctr"/>
          <a:lstStyle/>
          <a:p>
            <a:pPr algn="r" indent="0" marL="0">
              <a:buNone/>
            </a:pPr>
            <a:r>
              <a:rPr lang="en-US" sz="2270" b="1" dirty="0">
                <a:solidFill>
                  <a:srgbClr val="E11D48"/>
                </a:solidFill>
                <a:latin typeface="Calibri" pitchFamily="34" charset="0"/>
                <a:ea typeface="Calibri" pitchFamily="34" charset="-122"/>
                <a:cs typeface="Calibri" pitchFamily="34" charset="-120"/>
              </a:rPr>
              <a:t>1</a:t>
            </a:r>
            <a:endParaRPr lang="en-US" sz="2270" dirty="0"/>
          </a:p>
        </p:txBody>
      </p:sp>
      <p:sp>
        <p:nvSpPr>
          <p:cNvPr id="21" name="Text 19"/>
          <p:cNvSpPr/>
          <p:nvPr/>
        </p:nvSpPr>
        <p:spPr>
          <a:xfrm>
            <a:off x="7909560" y="4535424"/>
            <a:ext cx="3566160" cy="475488"/>
          </a:xfrm>
          <a:prstGeom prst="rect">
            <a:avLst/>
          </a:prstGeom>
          <a:noFill/>
          <a:ln/>
        </p:spPr>
        <p:txBody>
          <a:bodyPr wrap="square" lIns="0" tIns="0" rIns="0" bIns="0" rtlCol="0" anchor="ctr"/>
          <a:lstStyle/>
          <a:p>
            <a:pPr indent="0" marL="0">
              <a:buNone/>
            </a:pPr>
            <a:r>
              <a:rPr lang="en-US" sz="1250" b="1" dirty="0">
                <a:solidFill>
                  <a:srgbClr val="E11D48"/>
                </a:solidFill>
                <a:latin typeface="Calibri" pitchFamily="34" charset="0"/>
                <a:ea typeface="Calibri" pitchFamily="34" charset="-122"/>
                <a:cs typeface="Calibri" pitchFamily="34" charset="-120"/>
              </a:rPr>
              <a:t>máy thật sự đang dùng</a:t>
            </a:r>
            <a:endParaRPr lang="en-US" sz="1250" dirty="0"/>
          </a:p>
        </p:txBody>
      </p:sp>
      <p:sp>
        <p:nvSpPr>
          <p:cNvPr id="22" name="Text 20"/>
          <p:cNvSpPr/>
          <p:nvPr/>
        </p:nvSpPr>
        <p:spPr>
          <a:xfrm>
            <a:off x="5943600" y="5257800"/>
            <a:ext cx="5577840" cy="36576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Cả bốn đều đúng — mỗi con số nói về một chỗ khác nhau.</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035"/>
        </a:solidFill>
      </p:bgPr>
    </p:bg>
    <p:spTree>
      <p:nvGrpSpPr>
        <p:cNvPr id="1" name=""/>
        <p:cNvGrpSpPr/>
        <p:nvPr/>
      </p:nvGrpSpPr>
      <p:grpSpPr>
        <a:xfrm>
          <a:off x="0" y="0"/>
          <a:ext cx="0" cy="0"/>
          <a:chOff x="0" y="0"/>
          <a:chExt cx="0" cy="0"/>
        </a:xfrm>
      </p:grpSpPr>
      <p:sp>
        <p:nvSpPr>
          <p:cNvPr id="2" name="Text 0"/>
          <p:cNvSpPr/>
          <p:nvPr/>
        </p:nvSpPr>
        <p:spPr>
          <a:xfrm>
            <a:off x="640080" y="640080"/>
            <a:ext cx="10881360" cy="411480"/>
          </a:xfrm>
          <a:prstGeom prst="rect">
            <a:avLst/>
          </a:prstGeom>
          <a:noFill/>
          <a:ln/>
        </p:spPr>
        <p:txBody>
          <a:bodyPr wrap="square" lIns="0" tIns="0" rIns="0" bIns="0" rtlCol="0" anchor="ctr"/>
          <a:lstStyle/>
          <a:p>
            <a:pPr indent="0" marL="0">
              <a:buNone/>
            </a:pPr>
            <a:r>
              <a:rPr lang="en-US" sz="1850" dirty="0">
                <a:solidFill>
                  <a:srgbClr val="C3B6E0"/>
                </a:solidFill>
                <a:latin typeface="Calibri" pitchFamily="34" charset="0"/>
                <a:ea typeface="Calibri" pitchFamily="34" charset="-122"/>
                <a:cs typeface="Calibri" pitchFamily="34" charset="-120"/>
              </a:rPr>
              <a:t>Trợ lý Sen thuộc về bên đã đặt hàng. Thứ mang sang được là cách làm.</a:t>
            </a:r>
            <a:endParaRPr lang="en-US" sz="1850" dirty="0"/>
          </a:p>
        </p:txBody>
      </p:sp>
      <p:sp>
        <p:nvSpPr>
          <p:cNvPr id="3" name="Shape 1"/>
          <p:cNvSpPr/>
          <p:nvPr/>
        </p:nvSpPr>
        <p:spPr>
          <a:xfrm>
            <a:off x="640080" y="1234440"/>
            <a:ext cx="5212080" cy="1737360"/>
          </a:xfrm>
          <a:prstGeom prst="roundRect">
            <a:avLst>
              <a:gd name="adj" fmla="val 5263"/>
            </a:avLst>
          </a:prstGeom>
          <a:solidFill>
            <a:srgbClr val="2E1A5E"/>
          </a:solidFill>
          <a:ln/>
        </p:spPr>
      </p:sp>
      <p:sp>
        <p:nvSpPr>
          <p:cNvPr id="4" name="Text 2"/>
          <p:cNvSpPr/>
          <p:nvPr/>
        </p:nvSpPr>
        <p:spPr>
          <a:xfrm>
            <a:off x="1005840" y="1417320"/>
            <a:ext cx="4480560" cy="502920"/>
          </a:xfrm>
          <a:prstGeom prst="rect">
            <a:avLst/>
          </a:prstGeom>
          <a:noFill/>
          <a:ln/>
        </p:spPr>
        <p:txBody>
          <a:bodyPr wrap="square" lIns="0" tIns="0" rIns="0" bIns="0" rtlCol="0" anchor="ctr"/>
          <a:lstStyle/>
          <a:p>
            <a:pPr indent="0" marL="0">
              <a:buNone/>
            </a:pPr>
            <a:r>
              <a:rPr lang="en-US" sz="3150" b="1" spc="-70" kern="0" dirty="0">
                <a:solidFill>
                  <a:srgbClr val="A78BFA"/>
                </a:solidFill>
                <a:latin typeface="Calibri" pitchFamily="34" charset="0"/>
                <a:ea typeface="Calibri" pitchFamily="34" charset="-122"/>
                <a:cs typeface="Calibri" pitchFamily="34" charset="-120"/>
              </a:rPr>
              <a:t>~40%</a:t>
            </a:r>
            <a:endParaRPr lang="en-US" sz="3150" dirty="0"/>
          </a:p>
        </p:txBody>
      </p:sp>
      <p:sp>
        <p:nvSpPr>
          <p:cNvPr id="5" name="Text 3"/>
          <p:cNvSpPr/>
          <p:nvPr/>
        </p:nvSpPr>
        <p:spPr>
          <a:xfrm>
            <a:off x="1005840" y="1938528"/>
            <a:ext cx="448056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dùng lại ngay</a:t>
            </a:r>
            <a:endParaRPr lang="en-US" sz="1500" dirty="0"/>
          </a:p>
        </p:txBody>
      </p:sp>
      <p:sp>
        <p:nvSpPr>
          <p:cNvPr id="6" name="Text 4"/>
          <p:cNvSpPr/>
          <p:nvPr/>
        </p:nvSpPr>
        <p:spPr>
          <a:xfrm>
            <a:off x="1005840" y="2286000"/>
            <a:ext cx="4480560" cy="594360"/>
          </a:xfrm>
          <a:prstGeom prst="rect">
            <a:avLst/>
          </a:prstGeom>
          <a:noFill/>
          <a:ln/>
        </p:spPr>
        <p:txBody>
          <a:bodyPr wrap="square" lIns="0" tIns="0" rIns="0" bIns="0" rtlCol="0" anchor="ctr"/>
          <a:lstStyle/>
          <a:p>
            <a:pPr indent="0" marL="0">
              <a:lnSpc>
                <a:spcPct val="120000"/>
              </a:lnSpc>
              <a:buNone/>
            </a:pPr>
            <a:r>
              <a:rPr lang="en-US" sz="1200" dirty="0">
                <a:solidFill>
                  <a:srgbClr val="C3B6E0"/>
                </a:solidFill>
                <a:latin typeface="Calibri" pitchFamily="34" charset="0"/>
                <a:ea typeface="Calibri" pitchFamily="34" charset="-122"/>
                <a:cs typeface="Calibri" pitchFamily="34" charset="-120"/>
              </a:rPr>
              <a:t>các điều cấm · cách khoá vào dữ liệu · bộ kiểm tra tự chạy · cách bắt máy chỉ nguồn cho mỗi con số</a:t>
            </a:r>
            <a:endParaRPr lang="en-US" sz="1200" dirty="0"/>
          </a:p>
        </p:txBody>
      </p:sp>
      <p:sp>
        <p:nvSpPr>
          <p:cNvPr id="7" name="Shape 5"/>
          <p:cNvSpPr/>
          <p:nvPr/>
        </p:nvSpPr>
        <p:spPr>
          <a:xfrm>
            <a:off x="6217920" y="1234440"/>
            <a:ext cx="5212080" cy="1737360"/>
          </a:xfrm>
          <a:prstGeom prst="roundRect">
            <a:avLst>
              <a:gd name="adj" fmla="val 5263"/>
            </a:avLst>
          </a:prstGeom>
          <a:solidFill>
            <a:srgbClr val="2E1A5E"/>
          </a:solidFill>
          <a:ln/>
        </p:spPr>
      </p:sp>
      <p:sp>
        <p:nvSpPr>
          <p:cNvPr id="8" name="Text 6"/>
          <p:cNvSpPr/>
          <p:nvPr/>
        </p:nvSpPr>
        <p:spPr>
          <a:xfrm>
            <a:off x="6583680" y="1417320"/>
            <a:ext cx="4480560" cy="502920"/>
          </a:xfrm>
          <a:prstGeom prst="rect">
            <a:avLst/>
          </a:prstGeom>
          <a:noFill/>
          <a:ln/>
        </p:spPr>
        <p:txBody>
          <a:bodyPr wrap="square" lIns="0" tIns="0" rIns="0" bIns="0" rtlCol="0" anchor="ctr"/>
          <a:lstStyle/>
          <a:p>
            <a:pPr indent="0" marL="0">
              <a:buNone/>
            </a:pPr>
            <a:r>
              <a:rPr lang="en-US" sz="3150" b="1" spc="-70" kern="0" dirty="0">
                <a:solidFill>
                  <a:srgbClr val="D97706"/>
                </a:solidFill>
                <a:latin typeface="Calibri" pitchFamily="34" charset="0"/>
                <a:ea typeface="Calibri" pitchFamily="34" charset="-122"/>
                <a:cs typeface="Calibri" pitchFamily="34" charset="-120"/>
              </a:rPr>
              <a:t>~60%</a:t>
            </a:r>
            <a:endParaRPr lang="en-US" sz="3150" dirty="0"/>
          </a:p>
        </p:txBody>
      </p:sp>
      <p:sp>
        <p:nvSpPr>
          <p:cNvPr id="9" name="Text 7"/>
          <p:cNvSpPr/>
          <p:nvPr/>
        </p:nvSpPr>
        <p:spPr>
          <a:xfrm>
            <a:off x="6583680" y="1938528"/>
            <a:ext cx="448056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làm mới theo ví của bạn</a:t>
            </a:r>
            <a:endParaRPr lang="en-US" sz="1500" dirty="0"/>
          </a:p>
        </p:txBody>
      </p:sp>
      <p:sp>
        <p:nvSpPr>
          <p:cNvPr id="10" name="Text 8"/>
          <p:cNvSpPr/>
          <p:nvPr/>
        </p:nvSpPr>
        <p:spPr>
          <a:xfrm>
            <a:off x="6583680" y="2286000"/>
            <a:ext cx="4480560" cy="594360"/>
          </a:xfrm>
          <a:prstGeom prst="rect">
            <a:avLst/>
          </a:prstGeom>
          <a:noFill/>
          <a:ln/>
        </p:spPr>
        <p:txBody>
          <a:bodyPr wrap="square" lIns="0" tIns="0" rIns="0" bIns="0" rtlCol="0" anchor="ctr"/>
          <a:lstStyle/>
          <a:p>
            <a:pPr indent="0" marL="0">
              <a:lnSpc>
                <a:spcPct val="120000"/>
              </a:lnSpc>
              <a:buNone/>
            </a:pPr>
            <a:r>
              <a:rPr lang="en-US" sz="1200" dirty="0">
                <a:solidFill>
                  <a:srgbClr val="C3B6E0"/>
                </a:solidFill>
                <a:latin typeface="Calibri" pitchFamily="34" charset="0"/>
                <a:ea typeface="Calibri" pitchFamily="34" charset="-122"/>
                <a:cs typeface="Calibri" pitchFamily="34" charset="-120"/>
              </a:rPr>
              <a:t>khiếu nại của bạn có mấy loại · dấu hiệu đáng ngờ của bạn là gì · ai duyệt cái gì</a:t>
            </a:r>
            <a:endParaRPr lang="en-US" sz="1200" dirty="0"/>
          </a:p>
        </p:txBody>
      </p:sp>
      <p:sp>
        <p:nvSpPr>
          <p:cNvPr id="11" name="Text 9"/>
          <p:cNvSpPr/>
          <p:nvPr/>
        </p:nvSpPr>
        <p:spPr>
          <a:xfrm>
            <a:off x="640080" y="3154680"/>
            <a:ext cx="10881360" cy="365760"/>
          </a:xfrm>
          <a:prstGeom prst="rect">
            <a:avLst/>
          </a:prstGeom>
          <a:noFill/>
          <a:ln/>
        </p:spPr>
        <p:txBody>
          <a:bodyPr wrap="square" lIns="0" tIns="0" rIns="0" bIns="0" rtlCol="0" anchor="ctr"/>
          <a:lstStyle/>
          <a:p>
            <a:pPr indent="0" marL="0">
              <a:buNone/>
            </a:pPr>
            <a:r>
              <a:rPr lang="en-US" sz="1450" i="1" dirty="0">
                <a:solidFill>
                  <a:srgbClr val="C3B6E0"/>
                </a:solidFill>
                <a:latin typeface="Calibri" pitchFamily="34" charset="0"/>
                <a:ea typeface="Calibri" pitchFamily="34" charset="-122"/>
                <a:cs typeface="Calibri" pitchFamily="34" charset="-120"/>
              </a:rPr>
              <a:t>Sáu mươi phần trăm đó là lý do việc này cần một người, không phải một giấy phép phần mềm.</a:t>
            </a:r>
            <a:endParaRPr lang="en-US" sz="1450" dirty="0"/>
          </a:p>
        </p:txBody>
      </p:sp>
      <p:sp>
        <p:nvSpPr>
          <p:cNvPr id="12" name="Shape 10"/>
          <p:cNvSpPr/>
          <p:nvPr/>
        </p:nvSpPr>
        <p:spPr>
          <a:xfrm>
            <a:off x="640080" y="3794760"/>
            <a:ext cx="1005840" cy="27432"/>
          </a:xfrm>
          <a:prstGeom prst="rect">
            <a:avLst/>
          </a:prstGeom>
          <a:solidFill>
            <a:srgbClr val="6D28D9"/>
          </a:solidFill>
          <a:ln/>
        </p:spPr>
      </p:sp>
      <p:sp>
        <p:nvSpPr>
          <p:cNvPr id="13" name="Text 11"/>
          <p:cNvSpPr/>
          <p:nvPr/>
        </p:nvSpPr>
        <p:spPr>
          <a:xfrm>
            <a:off x="640080" y="4069080"/>
            <a:ext cx="10607040" cy="1280160"/>
          </a:xfrm>
          <a:prstGeom prst="rect">
            <a:avLst/>
          </a:prstGeom>
          <a:noFill/>
          <a:ln/>
        </p:spPr>
        <p:txBody>
          <a:bodyPr wrap="square" lIns="0" tIns="0" rIns="0" bIns="0" rtlCol="0" anchor="ctr"/>
          <a:lstStyle/>
          <a:p>
            <a:pPr indent="0" marL="0">
              <a:lnSpc>
                <a:spcPct val="120000"/>
              </a:lnSpc>
              <a:buNone/>
            </a:pPr>
            <a:r>
              <a:rPr lang="en-US" sz="3570" b="1" i="1" spc="-70" kern="0" dirty="0">
                <a:solidFill>
                  <a:srgbClr val="FFFFFF"/>
                </a:solidFill>
                <a:latin typeface="Calibri" pitchFamily="34" charset="0"/>
                <a:ea typeface="Calibri" pitchFamily="34" charset="-122"/>
                <a:cs typeface="Calibri" pitchFamily="34" charset="-120"/>
              </a:rPr>
              <a:t>“Khi AI của bạn nói sai một con số</a:t>
            </a:r>
            <a:endParaRPr lang="en-US" sz="3570" dirty="0"/>
          </a:p>
          <a:p>
            <a:pPr indent="0" marL="0">
              <a:lnSpc>
                <a:spcPct val="120000"/>
              </a:lnSpc>
              <a:buNone/>
            </a:pPr>
            <a:r>
              <a:rPr lang="en-US" sz="3570" b="1" i="1" spc="-70" kern="0" dirty="0">
                <a:solidFill>
                  <a:srgbClr val="FFFFFF"/>
                </a:solidFill>
                <a:latin typeface="Calibri" pitchFamily="34" charset="0"/>
                <a:ea typeface="Calibri" pitchFamily="34" charset="-122"/>
                <a:cs typeface="Calibri" pitchFamily="34" charset="-120"/>
              </a:rPr>
              <a:t>— có cái gì báo động không?”</a:t>
            </a:r>
            <a:endParaRPr lang="en-US" sz="3570" dirty="0"/>
          </a:p>
        </p:txBody>
      </p:sp>
      <p:sp>
        <p:nvSpPr>
          <p:cNvPr id="14" name="Text 12"/>
          <p:cNvSpPr/>
          <p:nvPr/>
        </p:nvSpPr>
        <p:spPr>
          <a:xfrm>
            <a:off x="640080" y="5440680"/>
            <a:ext cx="10607040" cy="365760"/>
          </a:xfrm>
          <a:prstGeom prst="rect">
            <a:avLst/>
          </a:prstGeom>
          <a:noFill/>
          <a:ln/>
        </p:spPr>
        <p:txBody>
          <a:bodyPr wrap="square" lIns="0" tIns="0" rIns="0" bIns="0" rtlCol="0" anchor="ctr"/>
          <a:lstStyle/>
          <a:p>
            <a:pPr indent="0" marL="0">
              <a:buNone/>
            </a:pPr>
            <a:r>
              <a:rPr lang="en-US" sz="1750" dirty="0">
                <a:solidFill>
                  <a:srgbClr val="C3B6E0"/>
                </a:solidFill>
                <a:latin typeface="Calibri" pitchFamily="34" charset="0"/>
                <a:ea typeface="Calibri" pitchFamily="34" charset="-122"/>
                <a:cs typeface="Calibri" pitchFamily="34" charset="-120"/>
              </a:rPr>
              <a:t>Trả lời được thì bạn không cần tôi.  Chưa trả lời được thì nhắn tôi một dòng.</a:t>
            </a:r>
            <a:endParaRPr lang="en-US" sz="1750" dirty="0"/>
          </a:p>
        </p:txBody>
      </p:sp>
      <p:sp>
        <p:nvSpPr>
          <p:cNvPr id="15" name="Shape 13"/>
          <p:cNvSpPr/>
          <p:nvPr/>
        </p:nvSpPr>
        <p:spPr>
          <a:xfrm>
            <a:off x="640080" y="5870448"/>
            <a:ext cx="10515600" cy="13716"/>
          </a:xfrm>
          <a:prstGeom prst="rect">
            <a:avLst/>
          </a:prstGeom>
          <a:solidFill>
            <a:srgbClr val="463369"/>
          </a:solidFill>
          <a:ln/>
        </p:spPr>
      </p:sp>
      <p:sp>
        <p:nvSpPr>
          <p:cNvPr id="16" name="Text 14"/>
          <p:cNvSpPr/>
          <p:nvPr/>
        </p:nvSpPr>
        <p:spPr>
          <a:xfrm>
            <a:off x="640080" y="6035040"/>
            <a:ext cx="68580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Đào Ngọc Bích</a:t>
            </a:r>
            <a:pPr indent="0" marL="0">
              <a:buNone/>
            </a:pPr>
            <a:r>
              <a:rPr lang="en-US" sz="1300" dirty="0">
                <a:solidFill>
                  <a:srgbClr val="C3B6E0"/>
                </a:solidFill>
                <a:latin typeface="Calibri" pitchFamily="34" charset="0"/>
                <a:ea typeface="Calibri" pitchFamily="34" charset="-122"/>
                <a:cs typeface="Calibri" pitchFamily="34" charset="-120"/>
              </a:rPr>
              <a:t>   ·   Mã học viên 2A202601745</a:t>
            </a:r>
            <a:endParaRPr lang="en-US" sz="1500" dirty="0"/>
          </a:p>
        </p:txBody>
      </p:sp>
      <p:sp>
        <p:nvSpPr>
          <p:cNvPr id="17" name="Text 15"/>
          <p:cNvSpPr/>
          <p:nvPr/>
        </p:nvSpPr>
        <p:spPr>
          <a:xfrm>
            <a:off x="7680960" y="6035040"/>
            <a:ext cx="3657600" cy="320040"/>
          </a:xfrm>
          <a:prstGeom prst="rect">
            <a:avLst/>
          </a:prstGeom>
          <a:noFill/>
          <a:ln/>
        </p:spPr>
        <p:txBody>
          <a:bodyPr wrap="square" lIns="0" tIns="0" rIns="0" bIns="0" rtlCol="0" anchor="ctr"/>
          <a:lstStyle/>
          <a:p>
            <a:pPr algn="r" indent="0" marL="0">
              <a:buNone/>
            </a:pPr>
            <a:r>
              <a:rPr lang="en-US" sz="1250" i="1" dirty="0">
                <a:solidFill>
                  <a:srgbClr val="6B5C99"/>
                </a:solidFill>
                <a:latin typeface="Calibri" pitchFamily="34" charset="0"/>
                <a:ea typeface="Calibri" pitchFamily="34" charset="-122"/>
                <a:cs typeface="Calibri" pitchFamily="34" charset="-120"/>
              </a:rPr>
              <a:t>Chương trình AI Thực Chiến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2026-08-20T12:07:55Z</dcterms:created>
  <dcterms:modified xsi:type="dcterms:W3CDTF">2026-08-20T12:07:55Z</dcterms:modified>
</cp:coreProperties>
</file>